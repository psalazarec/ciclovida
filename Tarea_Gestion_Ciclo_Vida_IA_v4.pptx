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rGAtMWVsmacy+FsoaeytM7fX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DB63CD-5871-D1C5-D75D-B5294B0DA194}" v="234" dt="2026-09-25T23:34:06.533"/>
  </p1510:revLst>
</p1510:revInfo>
</file>

<file path=ppt/tableStyles.xml><?xml version="1.0" encoding="utf-8"?>
<a:tblStyleLst xmlns:a="http://schemas.openxmlformats.org/drawingml/2006/main" def="{B36363B0-42F0-474F-9F91-CBC6704C03C6}">
  <a:tblStyle styleId="{B36363B0-42F0-474F-9F91-CBC6704C03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Omar Salazar Acosta" userId="S::psalazara@student.obsbusiness.school::367ab089-f491-4cf1-90d4-a98e12e06d09" providerId="AD" clId="Web-{91DB63CD-5871-D1C5-D75D-B5294B0DA194}"/>
    <pc:docChg chg="modSld">
      <pc:chgData name="Pablo Omar Salazar Acosta" userId="S::psalazara@student.obsbusiness.school::367ab089-f491-4cf1-90d4-a98e12e06d09" providerId="AD" clId="Web-{91DB63CD-5871-D1C5-D75D-B5294B0DA194}" dt="2026-09-25T23:33:57.736" v="140"/>
      <pc:docMkLst>
        <pc:docMk/>
      </pc:docMkLst>
      <pc:sldChg chg="modSp">
        <pc:chgData name="Pablo Omar Salazar Acosta" userId="S::psalazara@student.obsbusiness.school::367ab089-f491-4cf1-90d4-a98e12e06d09" providerId="AD" clId="Web-{91DB63CD-5871-D1C5-D75D-B5294B0DA194}" dt="2026-09-25T23:07:06.904" v="69" actId="20577"/>
        <pc:sldMkLst>
          <pc:docMk/>
          <pc:sldMk cId="0" sldId="257"/>
        </pc:sldMkLst>
        <pc:spChg chg="mod">
          <ac:chgData name="Pablo Omar Salazar Acosta" userId="S::psalazara@student.obsbusiness.school::367ab089-f491-4cf1-90d4-a98e12e06d09" providerId="AD" clId="Web-{91DB63CD-5871-D1C5-D75D-B5294B0DA194}" dt="2026-09-25T23:07:06.904" v="69" actId="20577"/>
          <ac:spMkLst>
            <pc:docMk/>
            <pc:sldMk cId="0" sldId="257"/>
            <ac:spMk id="33" creationId="{00000000-0000-0000-0000-000000000000}"/>
          </ac:spMkLst>
        </pc:spChg>
      </pc:sldChg>
      <pc:sldChg chg="modSp">
        <pc:chgData name="Pablo Omar Salazar Acosta" userId="S::psalazara@student.obsbusiness.school::367ab089-f491-4cf1-90d4-a98e12e06d09" providerId="AD" clId="Web-{91DB63CD-5871-D1C5-D75D-B5294B0DA194}" dt="2026-09-25T23:33:57.736" v="140"/>
        <pc:sldMkLst>
          <pc:docMk/>
          <pc:sldMk cId="0" sldId="258"/>
        </pc:sldMkLst>
        <pc:graphicFrameChg chg="mod modGraphic">
          <ac:chgData name="Pablo Omar Salazar Acosta" userId="S::psalazara@student.obsbusiness.school::367ab089-f491-4cf1-90d4-a98e12e06d09" providerId="AD" clId="Web-{91DB63CD-5871-D1C5-D75D-B5294B0DA194}" dt="2026-09-25T23:33:57.736" v="140"/>
          <ac:graphicFrameMkLst>
            <pc:docMk/>
            <pc:sldMk cId="0" sldId="258"/>
            <ac:graphicFrameMk id="57" creationId="{00000000-0000-0000-0000-000000000000}"/>
          </ac:graphicFrameMkLst>
        </pc:graphicFrameChg>
      </pc:sldChg>
      <pc:sldChg chg="modSp">
        <pc:chgData name="Pablo Omar Salazar Acosta" userId="S::psalazara@student.obsbusiness.school::367ab089-f491-4cf1-90d4-a98e12e06d09" providerId="AD" clId="Web-{91DB63CD-5871-D1C5-D75D-B5294B0DA194}" dt="2026-09-25T23:10:09.146" v="80" actId="20577"/>
        <pc:sldMkLst>
          <pc:docMk/>
          <pc:sldMk cId="0" sldId="259"/>
        </pc:sldMkLst>
        <pc:spChg chg="mod">
          <ac:chgData name="Pablo Omar Salazar Acosta" userId="S::psalazara@student.obsbusiness.school::367ab089-f491-4cf1-90d4-a98e12e06d09" providerId="AD" clId="Web-{91DB63CD-5871-D1C5-D75D-B5294B0DA194}" dt="2026-09-25T23:09:27.676" v="72" actId="20577"/>
          <ac:spMkLst>
            <pc:docMk/>
            <pc:sldMk cId="0" sldId="259"/>
            <ac:spMk id="82" creationId="{00000000-0000-0000-0000-000000000000}"/>
          </ac:spMkLst>
        </pc:spChg>
        <pc:spChg chg="mod">
          <ac:chgData name="Pablo Omar Salazar Acosta" userId="S::psalazara@student.obsbusiness.school::367ab089-f491-4cf1-90d4-a98e12e06d09" providerId="AD" clId="Web-{91DB63CD-5871-D1C5-D75D-B5294B0DA194}" dt="2026-09-25T23:10:09.146" v="80" actId="20577"/>
          <ac:spMkLst>
            <pc:docMk/>
            <pc:sldMk cId="0" sldId="259"/>
            <ac:spMk id="90" creationId="{00000000-0000-0000-0000-000000000000}"/>
          </ac:spMkLst>
        </pc:spChg>
      </pc:sldChg>
      <pc:sldChg chg="modSp">
        <pc:chgData name="Pablo Omar Salazar Acosta" userId="S::psalazara@student.obsbusiness.school::367ab089-f491-4cf1-90d4-a98e12e06d09" providerId="AD" clId="Web-{91DB63CD-5871-D1C5-D75D-B5294B0DA194}" dt="2026-09-25T23:12:07.540" v="84" actId="20577"/>
        <pc:sldMkLst>
          <pc:docMk/>
          <pc:sldMk cId="0" sldId="262"/>
        </pc:sldMkLst>
        <pc:spChg chg="mod">
          <ac:chgData name="Pablo Omar Salazar Acosta" userId="S::psalazara@student.obsbusiness.school::367ab089-f491-4cf1-90d4-a98e12e06d09" providerId="AD" clId="Web-{91DB63CD-5871-D1C5-D75D-B5294B0DA194}" dt="2026-09-25T23:12:07.540" v="84" actId="20577"/>
          <ac:spMkLst>
            <pc:docMk/>
            <pc:sldMk cId="0" sldId="262"/>
            <ac:spMk id="213" creationId="{00000000-0000-0000-0000-000000000000}"/>
          </ac:spMkLst>
        </pc:spChg>
      </pc:sldChg>
      <pc:sldChg chg="modSp">
        <pc:chgData name="Pablo Omar Salazar Acosta" userId="S::psalazara@student.obsbusiness.school::367ab089-f491-4cf1-90d4-a98e12e06d09" providerId="AD" clId="Web-{91DB63CD-5871-D1C5-D75D-B5294B0DA194}" dt="2026-09-25T23:33:36.548" v="136"/>
        <pc:sldMkLst>
          <pc:docMk/>
          <pc:sldMk cId="0" sldId="263"/>
        </pc:sldMkLst>
        <pc:graphicFrameChg chg="mod modGraphic">
          <ac:chgData name="Pablo Omar Salazar Acosta" userId="S::psalazara@student.obsbusiness.school::367ab089-f491-4cf1-90d4-a98e12e06d09" providerId="AD" clId="Web-{91DB63CD-5871-D1C5-D75D-B5294B0DA194}" dt="2026-09-25T23:33:36.548" v="136"/>
          <ac:graphicFrameMkLst>
            <pc:docMk/>
            <pc:sldMk cId="0" sldId="263"/>
            <ac:graphicFrameMk id="252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lang="es-UY" sz="1200" b="0" i="0" u="none" strike="noStrike">
                <a:solidFill>
                  <a:srgbClr val="0F172A"/>
                </a:solidFill>
                <a:latin typeface="Calibri"/>
              </a:rPr>
              <a:t>VAN si un solo driver cae a pesimista (US$K)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VAN 24m (US$K)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UY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Esperado</c:v>
                </c:pt>
                <c:pt idx="1">
                  <c:v>Módulos 12</c:v>
                </c:pt>
                <c:pt idx="2">
                  <c:v>Adopción 60%</c:v>
                </c:pt>
                <c:pt idx="3">
                  <c:v>Semanas 3,2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121</c:v>
                </c:pt>
                <c:pt idx="2">
                  <c:v>121</c:v>
                </c:pt>
                <c:pt idx="3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6F-1D43-8815-BA1BFB0C53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GESTIÓN DEL CICLO DE VIDA DE LA IA · ACTIVIDAD 1 «ENAMÓRATE DEL PROBLEMA»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731520" y="1463040"/>
            <a:ext cx="102412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Plataforma de Extracción Semántica de Reglas de Negocio &amp; Especificación Asistida por IA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731520" y="3154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Práctica de Modernización y Arquitectura Empresarial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1520" y="411480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005840" y="420624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Pregunta central: 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¿merece la pena invertir en desarrollar esta oportunidad de IA?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34D399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Respuesta: 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 a la fase de PoC (Gate G2, US$20K, 8 semanas), sin comprometer todavía el escalado.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731520" y="6035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Septiembre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Oportunidad estratégica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Una estrategia sin renuncias termina siendo una lista de iniciativas.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1 · Strategic Opportunity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4173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03504" y="1563624"/>
            <a:ext cx="274320" cy="27432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603504" y="15636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969264" y="154533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Ambición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621792" y="1965960"/>
            <a:ext cx="3282696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indent="-152400"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 b="1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Convertir</a:t>
            </a:r>
            <a:r>
              <a:rPr lang="en-US" sz="125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sz="1250" b="1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modernización</a:t>
            </a:r>
            <a:r>
              <a:rPr lang="en-US" sz="125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legacy </a:t>
            </a:r>
            <a:r>
              <a:rPr lang="en-US" sz="1250" b="1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5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sz="1250" b="1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línea</a:t>
            </a:r>
            <a:r>
              <a:rPr lang="en-US" sz="125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mayor </a:t>
            </a:r>
            <a:r>
              <a:rPr lang="en-US" sz="1250" b="1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margen</a:t>
            </a:r>
            <a:r>
              <a:rPr lang="en-US" sz="125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n-US" sz="1250" b="1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práctica</a:t>
            </a:r>
            <a:r>
              <a:rPr lang="en-US" sz="125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b="1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negocio</a:t>
            </a:r>
            <a:r>
              <a:rPr lang="en-US" sz="125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250" b="1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técnica</a:t>
            </a:r>
            <a:r>
              <a:rPr lang="en-US" sz="125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Propuestas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cortas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y con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menos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contingencia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comercial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(hoy hasta 35%).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indent="-152400">
              <a:spcBef>
                <a:spcPts val="600"/>
              </a:spcBef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Entregas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sin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sorpresas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menos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retrabajo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UAT (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aceptación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indent="-152400">
              <a:spcBef>
                <a:spcPts val="600"/>
              </a:spcBef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Más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capacidad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trabajo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con el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mismo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senior,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 hoy es el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recurso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escaso</a:t>
            </a:r>
            <a:r>
              <a:rPr lang="en-US" sz="12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251960" y="14173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398264" y="1563624"/>
            <a:ext cx="274320" cy="274320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4398264" y="15636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4764024" y="154533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Elecciones: dónde y cómo ganar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4416552" y="1965960"/>
            <a:ext cx="3282696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Clientes: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cores mainframe COBOL/JCL (≈80% de los stacks de la cartera).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Decisión crítica: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qué reglas de negocio forman el alcance y la especificación de cada módulo.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Capacidad diferencial: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especificación trazable regla → línea de código → caso de prueba.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046720" y="14173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193024" y="156362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8193024" y="15636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8558784" y="154533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Renuncias: qué no haremos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211312" y="1965960"/>
            <a:ext cx="3282696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Traducción automática código a código.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Stacks minoritarios en fase 1 (RPG, PL/I, Natural).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Reemplazar el juicio del arquitecto: la IA propone, no aprueba.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Vender la herramienta como producto SaaS.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Procesar código de clientes sin autorización contractual.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51663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731520" y="5212080"/>
            <a:ext cx="107899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Por qué merece ser analizada: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cuello de botella de la línea no es el desarrollo, es entender el código antiguo. Consume el 60–70% del tiempo previo a desarrollar, explica el 45% de los defectos en UAT y obliga a cotizar con contingencias altas. </a:t>
            </a:r>
            <a:r>
              <a:rPr lang="en-US" sz="13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Portafolio: apuesta estratégica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(valor alto, incertidumbre técnica media, construye una capacidad reutilizable).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 Case Prioritization Scorecard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Extracción semántica asistida desde código legacy para acelerar la modernización.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1 · Strategic Opportunity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" name="Google Shape;57;p3"/>
          <p:cNvGraphicFramePr/>
          <p:nvPr>
            <p:extLst>
              <p:ext uri="{D42A27DB-BD31-4B8C-83A1-F6EECF244321}">
                <p14:modId xmlns:p14="http://schemas.microsoft.com/office/powerpoint/2010/main" val="3356191571"/>
              </p:ext>
            </p:extLst>
          </p:nvPr>
        </p:nvGraphicFramePr>
        <p:xfrm>
          <a:off x="457200" y="1417320"/>
          <a:ext cx="7589550" cy="4242700"/>
        </p:xfrm>
        <a:graphic>
          <a:graphicData uri="http://schemas.openxmlformats.org/drawingml/2006/table">
            <a:tbl>
              <a:tblPr>
                <a:noFill/>
                <a:tableStyleId>{B36363B0-42F0-474F-9F91-CBC6704C03C6}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Criterio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Justificación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</a:t>
                      </a: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estratégico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Ataca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el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cuello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botella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la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Impacto </a:t>
                      </a: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</a:t>
                      </a: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negocio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Ciclo,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defectos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UAT y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Factibilidad</a:t>
                      </a: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técnica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(Large Language Model) 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RAG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(Retrieval-Augmented Generation) 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sobre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código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parseado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Datos / readiness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 readiness (datos 3/5)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Riesgo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 del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cuello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botella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Time-to-value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PoC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 (Proof of Concept) 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8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semanas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 datos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propios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Escalabilidad</a:t>
                      </a: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/ </a:t>
                      </a: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reutilización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de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reglas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reutilizable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Adopción</a:t>
                      </a:r>
                      <a:r>
                        <a:rPr lang="en-US" sz="120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/ </a:t>
                      </a:r>
                      <a:r>
                        <a:rPr lang="en-US" sz="1200" b="1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cambio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 seniors son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</a:t>
                      </a:r>
                      <a:r>
                        <a:rPr lang="en-US" sz="120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usuarios</a:t>
                      </a:r>
                      <a:endParaRPr sz="120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420 / 500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8" name="Google Shape;58;p3"/>
          <p:cNvSpPr/>
          <p:nvPr/>
        </p:nvSpPr>
        <p:spPr>
          <a:xfrm>
            <a:off x="8321040" y="1417320"/>
            <a:ext cx="3410712" cy="155448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8321040" y="1463040"/>
            <a:ext cx="341071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420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 500 · Apuesta estratégica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321040" y="3154680"/>
            <a:ext cx="3410712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467344" y="3300984"/>
            <a:ext cx="274320" cy="274320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8833104" y="3282696"/>
            <a:ext cx="2770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Por qué priorizarlo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8485632" y="3703320"/>
            <a:ext cx="308152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 la decisión que más valor destruye hoy: lectura manual, alcance oculto y retrabajo.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321040" y="480060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467344" y="4946904"/>
            <a:ext cx="274320" cy="27432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8833104" y="4928616"/>
            <a:ext cx="27706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Siguiente paso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8485632" y="5349240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PoC de 8 semanas (US$20K) para validar cobertura, precisión y reducción de ciclo.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Problem Framing Canvas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Enamórate del problema, no de la solución.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1 · Current State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1371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03504" y="151790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969264" y="14996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Problema central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621792" y="1920240"/>
            <a:ext cx="32826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334155"/>
              </a:buClr>
              <a:buSzPts val="1150"/>
              <a:buFont typeface="Calibri"/>
            </a:pP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ingeniería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inversa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depende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leer 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legacy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antiguo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sin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documentar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ha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sido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parchado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durante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décadas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ES" sz="115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288536" y="1371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434840" y="1517904"/>
            <a:ext cx="274320" cy="27432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4800600" y="14996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453128" y="1920240"/>
            <a:ext cx="32826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30–40% del margen se pierde en retrabajo; propuestas de 18–36 meses; desgaste de los perfiles senior.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119872" y="13716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266176" y="1517904"/>
            <a:ext cx="274320" cy="27432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8631936" y="14996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Usuarios y contexto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8284464" y="1920240"/>
            <a:ext cx="32826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334155"/>
              </a:buClr>
              <a:buSzPts val="1150"/>
              <a:buFont typeface="Calibri"/>
            </a:pP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Arquitectos, Tech Leads y seniors (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primarios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); Product Owner y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negocio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secundarios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lang="es-ES" sz="115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Trigger: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entra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(≈16/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año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) y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propuesta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29718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03504" y="3118104"/>
            <a:ext cx="274320" cy="274320"/>
          </a:xfrm>
          <a:prstGeom prst="ellipse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969264" y="30998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Decisión a mejorar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621792" y="3520440"/>
            <a:ext cx="328269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Qué reglas de negocio componen el alcance y la especificación de cada módulo, y con qué contingencia se cotiza.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288536" y="29718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434840" y="3118104"/>
            <a:ext cx="274320" cy="274320"/>
          </a:xfrm>
          <a:prstGeom prst="ellipse">
            <a:avLst/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4800600" y="30998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Flujo actual y fricciones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4453128" y="3520440"/>
            <a:ext cx="328269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Leer código → deducir reglas en planillas → contrastar con usuarios → documentar.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6–8 semanas por módulo de 50K LOC; reglas implícitas omitidas; discrepancias técnico–negocio.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119872" y="297180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266176" y="3118104"/>
            <a:ext cx="274320" cy="274320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8631936" y="30998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8284464" y="3520440"/>
            <a:ext cx="3282696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60–70% del tiempo previo al desarrollo se va en ingeniería inversa.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45% de los defectos de UAT vienen de reglas mal interpretadas u omitidas.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Fuente: histórico interno de proyectos.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" y="4754880"/>
            <a:ext cx="552754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03504" y="4901184"/>
            <a:ext cx="274320" cy="274320"/>
          </a:xfrm>
          <a:prstGeom prst="ellipse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969264" y="4882896"/>
            <a:ext cx="48874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Alternativas actuales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21792" y="5303520"/>
            <a:ext cx="51983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 código como única verdad; lift-and-shift o rehosting; hasta 35% de contingencia comercial para cubrir el alcance oculto.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204204" y="4754880"/>
            <a:ext cx="552754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350508" y="4901184"/>
            <a:ext cx="274320" cy="274320"/>
          </a:xfrm>
          <a:prstGeom prst="ellipse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6716268" y="4882896"/>
            <a:ext cx="48874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Límites: qué NO resolvemos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368796" y="5303520"/>
            <a:ext cx="51983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es traducción automática sin supervisión; no sustituye la aprobación arquitectónica ni la validación funcional; no resuelve problemas organizacionales.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Estado actual: dónde se pierde el valor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Value stream del análisis de un módulo mediano (50K LOC): 8 semanas.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1 · Current State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57200" y="1508760"/>
            <a:ext cx="1719072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530352" y="1554480"/>
            <a:ext cx="15727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Leer programas, copybooks y JCL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2,5 sem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2157984" y="19202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368296" y="1508760"/>
            <a:ext cx="1719072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2441448" y="1554480"/>
            <a:ext cx="15727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Deducir reglas en planillas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1,5 sem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4069080" y="19202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279392" y="1508760"/>
            <a:ext cx="1719072" cy="1234440"/>
          </a:xfrm>
          <a:prstGeom prst="roundRect">
            <a:avLst>
              <a:gd name="adj" fmla="val 5926"/>
            </a:avLst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352544" y="1554480"/>
            <a:ext cx="15727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Espera: agenda de usuarios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0,5 sem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980176" y="19202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190488" y="1508760"/>
            <a:ext cx="1719072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6263640" y="1554480"/>
            <a:ext cx="15727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Contrastar con negocio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1,0 sem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7891272" y="19202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101584" y="1508760"/>
            <a:ext cx="1719072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8174736" y="1554480"/>
            <a:ext cx="15727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Retrabajo por discrepancias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1,0 sem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9802368" y="19202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012680" y="1508760"/>
            <a:ext cx="1719072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0085832" y="1554480"/>
            <a:ext cx="15727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Especificación y contratos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1,5 sem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276856" y="2880360"/>
            <a:ext cx="1901952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2322576" y="2880360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D1 · ¿La regla es real o código muerto?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099048" y="2880360"/>
            <a:ext cx="1901952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6144768" y="2880360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D2 · ¿Qué entra en el alcance?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829800" y="2880360"/>
            <a:ext cx="1901952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9875520" y="2880360"/>
            <a:ext cx="18105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D3 · Aprobar la especificación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457200" y="3611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Valor añadido   </a:t>
            </a:r>
            <a:r>
              <a:rPr lang="en-US" sz="1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Espera   </a:t>
            </a:r>
            <a:r>
              <a:rPr lang="en-US" sz="11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Retrabajo   </a:t>
            </a:r>
            <a:r>
              <a:rPr lang="en-US" sz="11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Punto de decisión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5720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03504" y="421538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969264" y="41970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Pérdidas de valor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21792" y="4617720"/>
            <a:ext cx="3282696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1,5 de 8 semanas son espera o retrabajo puro.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 45% de los defectos de UAT nace aquí y se paga después, fuera de estas 8 semanas.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 incertidumbre de D2 se traslada al precio como contingencia.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288536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434840" y="4215384"/>
            <a:ext cx="274320" cy="274320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800600" y="41970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Lean antes que 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453128" y="4617720"/>
            <a:ext cx="3282696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Eliminar: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detectar código muerto antes de analizarlo.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Simplificar: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validar con negocio solo las reglas de baja confianza.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Aumentar con IA: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extracción y trazabilidad de reglas.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119872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266176" y="4215384"/>
            <a:ext cx="274320" cy="27432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8631936" y="41970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Estado futuro: 3 semanas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8284464" y="4617720"/>
            <a:ext cx="3282696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Borrador de reglas con IA: 0,5 sem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Revisión y firma senior: 1,0 sem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Validación focalizada con negocio: 0,5 sem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Especificación y contratos: 1,0 sem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Tiempos por etapa estimados; se medirán en Jira durante el PoC.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Diseño de la decisión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predicción no crea valor por sí sola: el valor está en la decisión que mejora.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2 · AI Opportunity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57200" y="1417320"/>
            <a:ext cx="2075688" cy="1600200"/>
          </a:xfrm>
          <a:prstGeom prst="roundRect">
            <a:avLst>
              <a:gd name="adj" fmla="val 4571"/>
            </a:avLst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566928" y="1490472"/>
            <a:ext cx="1856232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Problema / fricción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Reglas implícitas omitidas y 6–8 semanas de lectura manual por módulo.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2514600" y="2011680"/>
            <a:ext cx="2606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756916" y="1417320"/>
            <a:ext cx="2075688" cy="1600200"/>
          </a:xfrm>
          <a:prstGeom prst="roundRect">
            <a:avLst>
              <a:gd name="adj" fmla="val 4571"/>
            </a:avLst>
          </a:prstGeom>
          <a:solidFill>
            <a:srgbClr val="CFFAFE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2866644" y="1490472"/>
            <a:ext cx="1856232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Capacidad 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Predice qué reglas implementa el código y dónde, con trazabilidad a la línea.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4814316" y="2011680"/>
            <a:ext cx="2606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056632" y="1417320"/>
            <a:ext cx="2075688" cy="1600200"/>
          </a:xfrm>
          <a:prstGeom prst="roundRect">
            <a:avLst>
              <a:gd name="adj" fmla="val 4571"/>
            </a:avLst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5166360" y="1490472"/>
            <a:ext cx="1856232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Decisión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arquitecto decide qué reglas entran en la especificación y el contrato API.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7114032" y="2011680"/>
            <a:ext cx="2606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356348" y="1417320"/>
            <a:ext cx="2075688" cy="1600200"/>
          </a:xfrm>
          <a:prstGeom prst="roundRect">
            <a:avLst>
              <a:gd name="adj" fmla="val 4571"/>
            </a:avLst>
          </a:prstGeom>
          <a:solidFill>
            <a:srgbClr val="DBEAFE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7466076" y="1490472"/>
            <a:ext cx="1856232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Firma la especificación y los casos Given–When–Then y la pasa a desarrollo.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9413748" y="2011680"/>
            <a:ext cx="2606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656064" y="1417320"/>
            <a:ext cx="2075688" cy="1600200"/>
          </a:xfrm>
          <a:prstGeom prst="roundRect">
            <a:avLst>
              <a:gd name="adj" fmla="val 4571"/>
            </a:avLst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9765792" y="1490472"/>
            <a:ext cx="1856232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Ciclo de 8 a 3 semanas, −70% defectos UAT por análisis, +10 pp de margen.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57200" y="3246120"/>
            <a:ext cx="3566160" cy="2971800"/>
          </a:xfrm>
          <a:prstGeom prst="roundRect">
            <a:avLst>
              <a:gd name="adj" fmla="val 246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03504" y="3392424"/>
            <a:ext cx="274320" cy="274320"/>
          </a:xfrm>
          <a:prstGeom prst="ellipse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969264" y="3374136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Owner y alternativas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621792" y="3794760"/>
            <a:ext cx="3236976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Decision owner: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Lead Architect del módulo.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Alternativas por regla: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aceptar · corregir · descartar · escalar a negocio.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Frecuencia: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cientos de reglas por módulo, unos 16 módulos al año.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224528" y="3246120"/>
            <a:ext cx="3749040" cy="2971800"/>
          </a:xfrm>
          <a:prstGeom prst="roundRect">
            <a:avLst>
              <a:gd name="adj" fmla="val 246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370832" y="339242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4736592" y="3374136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Coste del error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4389120" y="3794760"/>
            <a:ext cx="3419856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Falso positivo (regla inventada)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 especifica lógica que no existe. Se detecta en la revisión y en tests. Coste medio.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DC2626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Falso negativo (regla omitida)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 el defecto de UAT de hoy. Coste alto y tardío. Por eso la cobertura (recall) es hipótesis crítica, no solo la precisión.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174736" y="3246120"/>
            <a:ext cx="3557016" cy="2971800"/>
          </a:xfrm>
          <a:prstGeom prst="roundRect">
            <a:avLst>
              <a:gd name="adj" fmla="val 246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321040" y="3392424"/>
            <a:ext cx="274320" cy="27432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8686800" y="3374136"/>
            <a:ext cx="29169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Autonomía: AI-Recommended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8339328" y="3794760"/>
            <a:ext cx="3227832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 IA propone y el humano valida o rechaza. Nunca publica un contrato.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Riesgo alto: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compromete alcance y precio con el cliente.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Reversibilidad baja: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una regla mal especificada se construye.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Juicio humano: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las reglas implícitas requieren contexto de negocio.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Human–AI Interaction Canvas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IA acelera el borrador; la responsabilidad técnica sigue en el equipo humano.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2 · Human + AI Design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57200" y="1371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03504" y="1517904"/>
            <a:ext cx="274320" cy="27432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969264" y="14996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Actor y tarea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21792" y="1920240"/>
            <a:ext cx="32826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Arquitecto de software o ingeniero senior: extrae lógica, mapea dependencias y diseña contratos API.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288536" y="1371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434840" y="1517904"/>
            <a:ext cx="274320" cy="274320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4800600" y="14996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Rol de la 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4453128" y="1920240"/>
            <a:ext cx="32826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334155"/>
              </a:buClr>
              <a:buSzPts val="1150"/>
              <a:buFont typeface="Calibri"/>
            </a:pP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Sintetiza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reglas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Gherkin/Markdown,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traza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el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linaje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 la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línea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y propone </a:t>
            </a:r>
            <a:r>
              <a:rPr lang="en-US" sz="115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OpenAPI</a:t>
            </a:r>
            <a:r>
              <a:rPr lang="en-US" sz="115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v3.0.</a:t>
            </a:r>
            <a:endParaRPr lang="es-ES" sz="115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8119872" y="1371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266176" y="1517904"/>
            <a:ext cx="274320" cy="274320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8631936" y="14996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8284464" y="1920240"/>
            <a:ext cx="32826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Pasar de semanas a días en el análisis, con borradores auditables y trazables.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57200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587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457200" y="297180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COBOL · JCL · copybooks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DDL · logs · glosario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3063240" y="329184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346704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5875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3346704" y="297180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Extrae · sintetiza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traza · propone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5952744" y="329184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236208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587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6236208" y="297180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Humano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 · corrige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refina · firma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8842248" y="3291840"/>
            <a:ext cx="2834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9125712" y="29260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587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9125712" y="297180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Especificación + OpenAPI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casos Given–When–Then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57200" y="42976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03504" y="4443984"/>
            <a:ext cx="274320" cy="274320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969264" y="44256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Rol humano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621792" y="4846320"/>
            <a:ext cx="3282696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Antes: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aporta el glosario y el contexto del cliente.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Durante: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valida cada regla, prioriza las de baja confianza.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Después: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firma, y responde por la especificación.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288536" y="42976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434840" y="444398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4800600" y="44256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Autonomía y control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4453128" y="4846320"/>
            <a:ext cx="3282696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AI-Recommended con human-in-the-loop estricto. La IA no publica contratos ni aprueba requerimientos.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Checklist obligatorio antes de pasar a desarrollo.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119872" y="42976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8266176" y="4443984"/>
            <a:ext cx="274320" cy="27432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8631936" y="44256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Excepciones y feedback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284464" y="4846320"/>
            <a:ext cx="3282696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Sintaxis ambigua o regla sin trazabilidad → «Revisión manual requerida».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 ingeniero corrige o descarta; las correcciones alimentan la base de conocimiento.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 Readiness en cinco dimensiones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 la oportunidad sea buena no significa estar preparados: la capacidad más débil marca el ritmo.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3 · Readiness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p8"/>
          <p:cNvGraphicFramePr/>
          <p:nvPr>
            <p:extLst>
              <p:ext uri="{D42A27DB-BD31-4B8C-83A1-F6EECF244321}">
                <p14:modId xmlns:p14="http://schemas.microsoft.com/office/powerpoint/2010/main" val="3608750258"/>
              </p:ext>
            </p:extLst>
          </p:nvPr>
        </p:nvGraphicFramePr>
        <p:xfrm>
          <a:off x="471577" y="1371600"/>
          <a:ext cx="11274550" cy="3675925"/>
        </p:xfrm>
        <a:graphic>
          <a:graphicData uri="http://schemas.openxmlformats.org/drawingml/2006/table">
            <a:tbl>
              <a:tblPr>
                <a:noFill/>
                <a:tableStyleId>{B36363B0-42F0-474F-9F91-CBC6704C03C6}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2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Dimensión</a:t>
                      </a:r>
                      <a:endParaRPr sz="115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Enterprise readiness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 readiness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Brecha → </a:t>
                      </a:r>
                      <a:r>
                        <a:rPr lang="en-US" sz="115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acción</a:t>
                      </a:r>
                      <a:endParaRPr sz="1150" u="none" strike="noStrike" cap="none" dirty="0" err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 &amp; Alignment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Modernización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es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crecimiento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 sponsor: Director de la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práctica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Problema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owner (Lead Architect) y KPI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definidos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/ 5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Formalizar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sponsor y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presupuesto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PoC</a:t>
                      </a:r>
                      <a:r>
                        <a:rPr lang="en-US" sz="1150" b="0" i="0" u="none" strike="noStrike" cap="none" spc="0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150" b="0" i="0" u="none" strike="noStrike" cap="none" spc="0" dirty="0">
                        <a:solidFill>
                          <a:srgbClr val="33415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 con 3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reglas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certificadas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(ground truth).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Parser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cubre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COBOL/JCL;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dialectos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 macros sin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(R2).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5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Correr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el parser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sobre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el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inventario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3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Tenant LLM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corporativo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Jira / Azure DevOps.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CLI 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</a:rPr>
                        <a:t> (Command Line Interface)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construir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5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Arquitectura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referencia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dentro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PoC.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People &amp; Operating Model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Seniors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escasos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son el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cuello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botella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actual.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 de revisor y checklist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definidos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posible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resistencia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/ 5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Reservar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20% de 2 seniors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durante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8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Governance &amp; Risk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Política de datos de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clientes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 sin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cláusula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uso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IA.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código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es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propiedad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intelectual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(R1).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/ 5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Cláusula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contractual + tenant privado sin </a:t>
                      </a:r>
                      <a:r>
                        <a:rPr lang="en-US" sz="1150" u="none" strike="noStrike" cap="none" dirty="0" err="1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retención</a:t>
                      </a:r>
                      <a:r>
                        <a:rPr lang="en-US" sz="115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antes de G3.</a:t>
                      </a:r>
                      <a:endParaRPr sz="11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3" name="Google Shape;253;p8"/>
          <p:cNvSpPr/>
          <p:nvPr/>
        </p:nvSpPr>
        <p:spPr>
          <a:xfrm>
            <a:off x="457200" y="52578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731520" y="5303520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Cuello de botella: Governance &amp; Risk (2/5). 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bloquea el PoC, que usa módulos históricos con autorización, pero sí el piloto con código de clientes. Por eso la cláusula contractual es condición de entrada a G3. Readiness promedio: 3,0/5.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Risk &amp; Hypothesis Register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Impacto × incertidumbre: primero lo que debe demostrarse antes de seguir invirtiendo.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3 · Hypotheses &amp; Evidence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6" name="Google Shape;266;p9"/>
          <p:cNvGraphicFramePr/>
          <p:nvPr/>
        </p:nvGraphicFramePr>
        <p:xfrm>
          <a:off x="457200" y="1371600"/>
          <a:ext cx="11274550" cy="4096550"/>
        </p:xfrm>
        <a:graphic>
          <a:graphicData uri="http://schemas.openxmlformats.org/drawingml/2006/table">
            <a:tbl>
              <a:tblPr>
                <a:noFill/>
                <a:tableStyleId>{B36363B0-42F0-474F-9F91-CBC6704C03C6}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1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4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Hipótesis / riesgo: qué tiene que ser cierto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I×U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Evidencia / criterio de aceptación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H4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Técnica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detecta ≥90% de las reglas certificadas,</a:t>
                      </a:r>
                      <a:r>
                        <a:rPr lang="en-US" sz="105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incluidas las implícitas (cobertura)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ciego sobre 3 módulos históricos certificados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 ≥90%; ninguna regla crítica omitida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 · PoC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Técnica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 menos el 85% de las reglas propuestas son correctas (precisión)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Mismo test ciego, revisión por 2 seniors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Precisión ≥85%; 0 alucinaciones graves sin alerta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 · PoC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Negocio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ciclo por módulo baja ≥40% neto, contando la revisión humana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Piloto cruzado: 2 squads × 2 módulos comparables, con y sin IA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≥40% en ambos squads sin más defectos; tiempos en Jira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 · PoC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 clientes no autorizan procesar su código con un LLM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Revisión de contratos de 5 clientes + propuesta de cláusula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≥3 de 5 aceptan; visto bueno de Legal y Seguridad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mitigación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Datos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parser no cubre dialectos, macros o CICS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Parser sobre el inventario de 3 clientes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≥95% de LOC parseadas; el resto va a revisión manual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mitigación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Adopción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 seniors adoptan la herramienta en su trabajo diario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Telemetría y encuesta en el piloto G3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≥80% de módulos con IA a 8 semanas; NPS ≥ +40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 · G3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75" marR="5487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7" name="Google Shape;267;p9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Escala 1–5. I×U ≥15 = </a:t>
            </a:r>
            <a:r>
              <a:rPr lang="en-US" sz="115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crítica </a:t>
            </a: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· 8–14 = alta.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H4 es nueva: el problema son las reglas omitidas, y eso lo mide la cobertura, no la precisión. Ninguna hipótesis está en GO: sin evidencia, el estado es «pendiente».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457200" y="5486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 = Impacto        U = Intertidumbre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30002" y="5858182"/>
            <a:ext cx="274200" cy="27420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826378" y="1896824"/>
            <a:ext cx="150600" cy="15270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826377" y="2526309"/>
            <a:ext cx="150600" cy="15270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826378" y="3137826"/>
            <a:ext cx="150600" cy="15270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Success Definition Card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Definir el éxito antes de construir: qué cambia, cuánto y qué resultado justifica seguir.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4 · Success Definition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Cadena de valor de las métricas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57200" y="173736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566928" y="1773936"/>
            <a:ext cx="371246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Cobertura ≥90% · precisión ≥85% · 0 alucinaciones graves sin alerta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2240280" y="246888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7200" y="2670048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566928" y="2706624"/>
            <a:ext cx="371246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Producto (adopción)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≥80% de módulos con IA · ≥85% de reglas aceptadas sin reescribir · NPS ≥ +40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2240280" y="340156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57200" y="3602736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566928" y="3639312"/>
            <a:ext cx="371246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Operación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Ciclo por módulo 8 → 3 sem · defectos UAT por análisis −70%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2240280" y="433425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57200" y="4535424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566928" y="4572000"/>
            <a:ext cx="371246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Negocio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Margen bruto 25% → 35% · +40% de capacidad con el mismo equipo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" name="Google Shape;296;p10"/>
          <p:cNvGraphicFramePr/>
          <p:nvPr/>
        </p:nvGraphicFramePr>
        <p:xfrm>
          <a:off x="4617720" y="1325880"/>
          <a:ext cx="7114025" cy="1828800"/>
        </p:xfrm>
        <a:graphic>
          <a:graphicData uri="http://schemas.openxmlformats.org/drawingml/2006/table">
            <a:tbl>
              <a:tblPr>
                <a:noFill/>
                <a:tableStyleId>{B36363B0-42F0-474F-9F91-CBC6704C03C6}</a:tableStyleId>
              </a:tblPr>
              <a:tblGrid>
                <a:gridCol w="265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Umbral mínimo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Ciclo de análisis por módulo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sem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sem (−62%)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4,8 sem (−40%, = H2)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Defectos UAT por regla omitida o mal interpretada, por 10K LOC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medir en 3 proyectos (hoy 45% del total)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−70%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−40%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 bruto de la línea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0" marR="73150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" name="Google Shape;297;p10"/>
          <p:cNvSpPr/>
          <p:nvPr/>
        </p:nvSpPr>
        <p:spPr>
          <a:xfrm>
            <a:off x="461772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764024" y="348386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5129784" y="346557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4782312" y="3886200"/>
            <a:ext cx="31455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 no conformidades en gobierno de APIs y seguridad.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 fugas de código a entornos no homologados.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Los defectos UAT no suben en módulos con 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257032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8403336" y="3483864"/>
            <a:ext cx="274320" cy="27432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8769096" y="346557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Evidencia y datos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8421624" y="3886200"/>
            <a:ext cx="314553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Contraste ciego con 3 proyectos históricos.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Tiempos en Jira / Azure DevOps.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Incidentes UAT clasificados por causa raíz.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4617720" y="4892040"/>
            <a:ext cx="71140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Decision gate G2 · fin del PoC (semana 8)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617720" y="5239512"/>
            <a:ext cx="1696212" cy="987552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4681728" y="5257800"/>
            <a:ext cx="156819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Cobertura ≥90%, precisión ≥85% y reducción ≥40% → libera G3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6423660" y="5239512"/>
            <a:ext cx="1696212" cy="987552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6487668" y="5257800"/>
            <a:ext cx="156819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ITERATE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Cobertura 75–89%, precisión 70–84% o reducción 25–39% → 1 ciclo más de 4 sem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8229600" y="5239512"/>
            <a:ext cx="1696212" cy="987552"/>
          </a:xfrm>
          <a:prstGeom prst="roundRect">
            <a:avLst>
              <a:gd name="adj" fmla="val 5556"/>
            </a:avLst>
          </a:prstGeom>
          <a:solidFill>
            <a:srgbClr val="EDE9FE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8293608" y="5257800"/>
            <a:ext cx="156819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PIVOT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Calidad OK pero reducción &lt;25% → acotar a mapa de dependencias y estimación de alcance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0035540" y="5239512"/>
            <a:ext cx="1696212" cy="987552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10099548" y="5257800"/>
            <a:ext cx="1568196" cy="95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Cobertura &lt;75%, precisión &lt;70%, inferencia &gt;15% del ahorro o una fuga de código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 Business Case Canvas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 business case no es una promesa: es una hipótesis económica que se actualiza con evidencia.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4 · Business Case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57200" y="13258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603504" y="147218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969264" y="14538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Oportunidad y valor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621792" y="1874520"/>
            <a:ext cx="328269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 análisis manual es el cuello de botella y origina el 45% de los defectos UAT.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Ahorro en régimen: US$248K/año; +40% de capacidad.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288536" y="13258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4434840" y="1472184"/>
            <a:ext cx="274320" cy="274320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4800600" y="14538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Drivers de valor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4453128" y="1874520"/>
            <a:ext cx="328269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16 módulos/año (8 proyectos × 2) · 5 semanas ahorradas por módulo · US$3.875 por semana de equipo · 80% de adopción.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8119872" y="13258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8266176" y="1472184"/>
            <a:ext cx="274320" cy="274320"/>
          </a:xfrm>
          <a:prstGeom prst="ellipse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8631936" y="145389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8284464" y="1874520"/>
            <a:ext cx="328269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Sponsor: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Director de la práctica.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PO: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Lead Architect.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Tech lead: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plataforma IA.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Aprueban: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Legal/Seguridad (R1) y Finanzas (por gate).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57200" y="29718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603504" y="3118104"/>
            <a:ext cx="274320" cy="27432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969264" y="30998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CAPEX por gate · US$63K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621792" y="3520440"/>
            <a:ext cx="32826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G2 PoC: US$20K ·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Discovery/diseño 15K · prompts 5K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G3 Piloto: US$43K ·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Parsers 10K · RAG 15K · CLI 10K · cambio y capacitación 8K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288536" y="29718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434840" y="3118104"/>
            <a:ext cx="274320" cy="274320"/>
          </a:xfrm>
          <a:prstGeom prst="ellipse">
            <a:avLst/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4800600" y="30998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OPEX · US$32K/año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4453128" y="3520440"/>
            <a:ext cx="32826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Cloud/APIs 18K · mantenimiento 10K · seguridad y observabilidad 4K.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Inferencia ≈ 7% del ahorro (STOP si supera 15%).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8119872" y="29718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8266176" y="311810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 txBox="1"/>
          <p:nvPr/>
        </p:nvSpPr>
        <p:spPr>
          <a:xfrm>
            <a:off x="8631936" y="309981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Riesgos y guardrails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8284464" y="3520440"/>
            <a:ext cx="32826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Cuello de botella: autorización contractual (R1).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Omisión de reglas (H4) y adopción (H3).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Guardrails: 0 fugas, 0 no conformidades.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Timeline y decision gates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1"/>
          <p:cNvCxnSpPr/>
          <p:nvPr/>
        </p:nvCxnSpPr>
        <p:spPr>
          <a:xfrm>
            <a:off x="914400" y="5413248"/>
            <a:ext cx="10332720" cy="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1" name="Google Shape;351;p11"/>
          <p:cNvSpPr/>
          <p:nvPr/>
        </p:nvSpPr>
        <p:spPr>
          <a:xfrm>
            <a:off x="777240" y="5276088"/>
            <a:ext cx="274320" cy="274320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457200" y="5596128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G1 · Discovery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Hecho (sep-26)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Problema, KPIs e hipótesis definidos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221480" y="5276088"/>
            <a:ext cx="274320" cy="27432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3032760" y="5596128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G2 · PoC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 0–2 · US$20K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H4, H1, H2 validadas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7665720" y="5276088"/>
            <a:ext cx="274320" cy="27432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6477000" y="5596128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G3 · Piloto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 3–5 · US$43K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H3, R1 cerrado, guardrails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11109960" y="5276088"/>
            <a:ext cx="274320" cy="274320"/>
          </a:xfrm>
          <a:prstGeom prst="ellipse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9079992" y="5596128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G4 · Escalado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 6+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80% de squads; ahorro en régimen desde el mes 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2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Modelo económico y sensibilidad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Supuestos explícitos: cualquier cifra del caso se puede recalcular.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4 · Business Case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57200" y="132588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685800" y="1325880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Ahorro anual =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módulos/año × semanas ahorradas × coste semanal del equipo × adopción  →  16 × 5 × US$3.875 × 80% = US$248K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" name="Google Shape;372;p12"/>
          <p:cNvGraphicFramePr/>
          <p:nvPr/>
        </p:nvGraphicFramePr>
        <p:xfrm>
          <a:off x="457200" y="2103120"/>
          <a:ext cx="6949450" cy="1542280"/>
        </p:xfrm>
        <a:graphic>
          <a:graphicData uri="http://schemas.openxmlformats.org/drawingml/2006/table">
            <a:tbl>
              <a:tblPr>
                <a:noFill/>
                <a:tableStyleId>{B36363B0-42F0-474F-9F91-CBC6704C03C6}</a:tableStyleId>
              </a:tblPr>
              <a:tblGrid>
                <a:gridCol w="10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Escenario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Sem. ahorradas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Adopción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Ahorro régimen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VAN 24m (10%)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ROI 24m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Payback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Pesimista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3,2 (umbral)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US$89K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US$0K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 23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Esperado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US$248K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US$200K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192%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 12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Optimista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US$384K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US$372K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352%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 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5725" marR="45725" marT="27425" marB="27425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3" name="Google Shape;373;p12"/>
          <p:cNvSpPr/>
          <p:nvPr/>
        </p:nvSpPr>
        <p:spPr>
          <a:xfrm>
            <a:off x="457200" y="3840480"/>
            <a:ext cx="694944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603504" y="3986784"/>
            <a:ext cx="274320" cy="27432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969264" y="3968496"/>
            <a:ext cx="6309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Supuestos del flujo de caja (24 meses)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621792" y="4389120"/>
            <a:ext cx="6620256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Meses 0–2 (PoC): sin ahorro. Meses 3–5 (piloto): 20% del ahorro de régimen. Meses 6–11: 60%. Desde el mes 12: 100%.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CAPEX: US$20K en el mes 0 y US$43K en el mes 3 (solo si se aprueba G3). OPEX desde el mes 3.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VAN con tasa anual del 10% y descuento mensual. Payback medido desde la decisión de hoy.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5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se valora el efecto comercial (menos contingencia, más propuestas ganadas): es upside no incluido.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7" name="Google Shape;377;p12"/>
          <p:cNvGraphicFramePr/>
          <p:nvPr/>
        </p:nvGraphicFramePr>
        <p:xfrm>
          <a:off x="7635240" y="2103120"/>
          <a:ext cx="4096512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8" name="Google Shape;378;p12"/>
          <p:cNvSpPr/>
          <p:nvPr/>
        </p:nvSpPr>
        <p:spPr>
          <a:xfrm>
            <a:off x="7635240" y="5120640"/>
            <a:ext cx="4096512" cy="109728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7772400" y="516636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Riesgo acotado: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 el PoC da STOP, la pérdida máxima es US$20K. El equilibrio llega con unos 4 módulos (2 proyectos).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"/>
          <p:cNvSpPr txBox="1"/>
          <p:nvPr/>
        </p:nvSpPr>
        <p:spPr>
          <a:xfrm>
            <a:off x="457200" y="292608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 Opportunity Canvas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457200" y="841248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Síntesis ejecutiva del caso en una sola vista: de la idea a una hipótesis ejecutable.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9464040" y="32918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>
            <a:off x="9464040" y="329184"/>
            <a:ext cx="22677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Apartado 5 · Canvas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 txBox="1"/>
          <p:nvPr/>
        </p:nvSpPr>
        <p:spPr>
          <a:xfrm>
            <a:off x="11274552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Legacy-to-Cloud Modernization · Actividad 1 · Enamórate del problema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57200" y="1371600"/>
            <a:ext cx="268147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603504" y="151790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 txBox="1"/>
          <p:nvPr/>
        </p:nvSpPr>
        <p:spPr>
          <a:xfrm>
            <a:off x="603504" y="15179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 txBox="1"/>
          <p:nvPr/>
        </p:nvSpPr>
        <p:spPr>
          <a:xfrm>
            <a:off x="969264" y="1499616"/>
            <a:ext cx="20413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Problema / oportunidad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 txBox="1"/>
          <p:nvPr/>
        </p:nvSpPr>
        <p:spPr>
          <a:xfrm>
            <a:off x="621792" y="1920240"/>
            <a:ext cx="2352294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Ingeniería inversa manual: 60–70% del tiempo previo, 45% de defectos UAT, 30–40% del margen perdido en retrabajo.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3321558" y="1371600"/>
            <a:ext cx="268147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3467862" y="1517904"/>
            <a:ext cx="274320" cy="274320"/>
          </a:xfrm>
          <a:prstGeom prst="ellipse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3467862" y="15179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 txBox="1"/>
          <p:nvPr/>
        </p:nvSpPr>
        <p:spPr>
          <a:xfrm>
            <a:off x="3833622" y="1499616"/>
            <a:ext cx="20413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Usuario / proceso / decisión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3486150" y="1920240"/>
            <a:ext cx="2352294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Lead Architect y seniors, en el análisis de cada módulo.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Decisión: qué reglas entran en la especificación.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6185916" y="1371600"/>
            <a:ext cx="268147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6332220" y="1517904"/>
            <a:ext cx="274320" cy="274320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 txBox="1"/>
          <p:nvPr/>
        </p:nvSpPr>
        <p:spPr>
          <a:xfrm>
            <a:off x="6332220" y="15179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 txBox="1"/>
          <p:nvPr/>
        </p:nvSpPr>
        <p:spPr>
          <a:xfrm>
            <a:off x="6697980" y="1499616"/>
            <a:ext cx="20413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6350508" y="1920240"/>
            <a:ext cx="2352294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Borradores de reglas trazables en días: el senior pasa de leer código a validar reglas.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Por qué IA: semántica de código no estructurado a escala.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9050274" y="1371600"/>
            <a:ext cx="268147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9196578" y="1517904"/>
            <a:ext cx="274320" cy="27432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9196578" y="15179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9562338" y="1499616"/>
            <a:ext cx="20413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Métricas de éxito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9214866" y="1920240"/>
            <a:ext cx="2352294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Cobertura ≥90% · precisión ≥85%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Ciclo 8 → 3 sem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Defectos UAT −70%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Margen 25% → 35%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57200" y="3931920"/>
            <a:ext cx="268147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603504" y="4078224"/>
            <a:ext cx="274320" cy="274320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>
            <a:off x="603504" y="40782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 txBox="1"/>
          <p:nvPr/>
        </p:nvSpPr>
        <p:spPr>
          <a:xfrm>
            <a:off x="969264" y="4059936"/>
            <a:ext cx="20413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Datos y capacidad 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 txBox="1"/>
          <p:nvPr/>
        </p:nvSpPr>
        <p:spPr>
          <a:xfrm>
            <a:off x="621792" y="4480560"/>
            <a:ext cx="2352294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COBOL, JCL, copybooks, DDL, logs y glosario.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 módulos certificados como ground truth.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LLM + RAG + parser (≥95% LOC).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3321558" y="3931920"/>
            <a:ext cx="268147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3467862" y="4078224"/>
            <a:ext cx="274320" cy="274320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 txBox="1"/>
          <p:nvPr/>
        </p:nvSpPr>
        <p:spPr>
          <a:xfrm>
            <a:off x="3467862" y="40782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 txBox="1"/>
          <p:nvPr/>
        </p:nvSpPr>
        <p:spPr>
          <a:xfrm>
            <a:off x="3833622" y="4059936"/>
            <a:ext cx="20413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Alcance / MVP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 txBox="1"/>
          <p:nvPr/>
        </p:nvSpPr>
        <p:spPr>
          <a:xfrm>
            <a:off x="3486150" y="4480560"/>
            <a:ext cx="2352294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PoC de 8 semanas: 3 módulos históricos, COBOL/JCL.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Fuera: traducción de código, otros stacks, publicación automática.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6185916" y="3931920"/>
            <a:ext cx="268147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6332220" y="4078224"/>
            <a:ext cx="274320" cy="274320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6332220" y="40782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6697980" y="4059936"/>
            <a:ext cx="20413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Riesgos y dependencias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 txBox="1"/>
          <p:nvPr/>
        </p:nvSpPr>
        <p:spPr>
          <a:xfrm>
            <a:off x="6350508" y="4480560"/>
            <a:ext cx="2352294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Autorización contractual (cuello de botella).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Reglas omitidas o inventadas.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Parser, adopción, inferencia ≤15% del ahorro.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9050274" y="3931920"/>
            <a:ext cx="268147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9196578" y="4078224"/>
            <a:ext cx="274320" cy="274320"/>
          </a:xfrm>
          <a:prstGeom prst="ellipse">
            <a:avLst/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9196578" y="40782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9562338" y="4059936"/>
            <a:ext cx="20413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Ownership y siguiente paso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 txBox="1"/>
          <p:nvPr/>
        </p:nvSpPr>
        <p:spPr>
          <a:xfrm>
            <a:off x="9214866" y="4480560"/>
            <a:ext cx="2352294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Sponsor: Director de la práctica. PO: Lead Architect.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Aprobar US$20K y arrancar el PoC; decisión G2 en la semana 8.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4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RECOMENDACIÓN DE INVERSIÓN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 a la fase de PoC (G2): US$20K, 8 semanas, 3 módulos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lang="en-US" sz="1500" i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 aprueba el aprendizaje, no el escalado: los US$43K restantes se liberan solo si el PoC cumple el gate.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548640" y="201168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 txBox="1"/>
          <p:nvPr/>
        </p:nvSpPr>
        <p:spPr>
          <a:xfrm>
            <a:off x="731520" y="2121408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Por qué no STOP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 txBox="1"/>
          <p:nvPr/>
        </p:nvSpPr>
        <p:spPr>
          <a:xfrm>
            <a:off x="731520" y="2560320"/>
            <a:ext cx="3246120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El problema está bien definido y cuantificado (60–70% del tiempo en ingeniería inversa, 45% de defectos UAT)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Incluso el escenario pesimista queda en equilibrio a 24 meses.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El riesgo económico está acotado: pérdida máxima US$20K si el PoC falla.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4379976" y="201168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4562856" y="2121408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Por qué no PIVOT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 txBox="1"/>
          <p:nvPr/>
        </p:nvSpPr>
        <p:spPr>
          <a:xfrm>
            <a:off x="4562856" y="2560320"/>
            <a:ext cx="3246120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 capacidad IA ataca la fricción central: leer código y no omitir reglas.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Ningún dato indica hoy que el enfoque sea el equivocado.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El PIVOT queda definido en el gate si la reducción no aparece.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8211312" y="201168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8394192" y="2121408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Por qué no GO completo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8394192" y="2560320"/>
            <a:ext cx="3246120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Tres hipótesis críticas sin evidencia: H4, H1 y H2 (I×U 15–20).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Readiness de gobierno en 2/5: sin cláusula no hay piloto con clientes.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Invertir US$63K hoy sería apostar, no decidir.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548650" y="4605900"/>
            <a:ext cx="11064300" cy="1611900"/>
          </a:xfrm>
          <a:prstGeom prst="roundRect">
            <a:avLst>
              <a:gd name="adj" fmla="val 4848"/>
            </a:avLst>
          </a:prstGeom>
          <a:solidFill>
            <a:srgbClr val="1E3A5F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 txBox="1"/>
          <p:nvPr/>
        </p:nvSpPr>
        <p:spPr>
          <a:xfrm>
            <a:off x="822960" y="4754880"/>
            <a:ext cx="10607100" cy="1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lang="en-US" sz="13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Condiciones para liberar G3 (US$43K):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cobertura ≥90% · precisión ≥85% · reducción neta ≥40% · 0 fugas de código · cláusula contractual aprobada por Legal.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Calibri"/>
              <a:buNone/>
            </a:pPr>
            <a:r>
              <a:rPr lang="en-US" sz="13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Caso esperado si se cumplen: 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US$248K/año en régimen · VAN US$200K · ROI 192% · payback en el mes 12.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Estrategia: </a:t>
            </a:r>
            <a:endParaRPr sz="1300" b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avanza solo a la fase de PoC para validar hipótesis críticas (cobertura ≥90%, precisión ≥85%, reducción ≥40%).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escalado (G3) dependerá de evidencia sólida y cláusula contractual aprobada.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Calibri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 txBox="1"/>
          <p:nvPr/>
        </p:nvSpPr>
        <p:spPr>
          <a:xfrm>
            <a:off x="3211425" y="6309375"/>
            <a:ext cx="4999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lt2"/>
                </a:solidFill>
              </a:rPr>
              <a:t>👉 </a:t>
            </a:r>
            <a:r>
              <a:rPr lang="en-US" sz="1100" b="1">
                <a:solidFill>
                  <a:schemeClr val="lt2"/>
                </a:solidFill>
              </a:rPr>
              <a:t>Invertir ahora en aprendizaje controlado, no en escalado prematuro.</a:t>
            </a:r>
            <a:endParaRPr sz="1100"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14</Slides>
  <Notes>14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revision>59</cp:revision>
  <dcterms:created xsi:type="dcterms:W3CDTF">2026-09-23T16:54:46Z</dcterms:created>
  <dcterms:modified xsi:type="dcterms:W3CDTF">2026-09-25T23:34:14Z</dcterms:modified>
</cp:coreProperties>
</file>