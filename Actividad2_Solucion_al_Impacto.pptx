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7" d="100"/>
          <a:sy n="117" d="100"/>
        </p:scale>
        <p:origin x="18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143D69"/>
          </a:solidFill>
          <a:ln>
            <a:solidFill>
              <a:srgbClr val="14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235440" y="1005840"/>
            <a:ext cx="2103120" cy="109728"/>
          </a:xfrm>
          <a:prstGeom prst="rect">
            <a:avLst/>
          </a:prstGeom>
          <a:solidFill>
            <a:srgbClr val="21968C"/>
          </a:solidFill>
          <a:ln>
            <a:solidFill>
              <a:srgbClr val="21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235440" y="1965960"/>
            <a:ext cx="2560320" cy="109728"/>
          </a:xfrm>
          <a:prstGeom prst="rect">
            <a:avLst/>
          </a:prstGeom>
          <a:solidFill>
            <a:srgbClr val="21968C"/>
          </a:solidFill>
          <a:ln>
            <a:solidFill>
              <a:srgbClr val="21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235440" y="2926080"/>
            <a:ext cx="1828800" cy="109728"/>
          </a:xfrm>
          <a:prstGeom prst="rect">
            <a:avLst/>
          </a:prstGeom>
          <a:solidFill>
            <a:srgbClr val="21968C"/>
          </a:solidFill>
          <a:ln>
            <a:solidFill>
              <a:srgbClr val="21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235440" y="3886200"/>
            <a:ext cx="2377440" cy="109728"/>
          </a:xfrm>
          <a:prstGeom prst="rect">
            <a:avLst/>
          </a:prstGeom>
          <a:solidFill>
            <a:srgbClr val="21968C"/>
          </a:solidFill>
          <a:ln>
            <a:solidFill>
              <a:srgbClr val="21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5440" y="4846320"/>
            <a:ext cx="1645920" cy="109728"/>
          </a:xfrm>
          <a:prstGeom prst="rect">
            <a:avLst/>
          </a:prstGeom>
          <a:solidFill>
            <a:srgbClr val="21968C"/>
          </a:solidFill>
          <a:ln>
            <a:solidFill>
              <a:srgbClr val="21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7040880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94DCD4"/>
                </a:solidFill>
                <a:latin typeface="Aptos"/>
              </a:defRPr>
            </a:pPr>
            <a:r>
              <a:t>OBS BUSINESS SCHOOL  |  GESTIÓN DEL CICLO DE VIDA DE LA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7680960" cy="1417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DE LA SOLUCIÓN</a:t>
            </a:r>
          </a:p>
          <a:p>
            <a:pPr algn="l">
              <a:spcAft>
                <a:spcPts val="3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AL IMPACTO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82112"/>
            <a:ext cx="6671057" cy="80175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2000" b="0" i="0">
                <a:solidFill>
                  <a:srgbClr val="FFFFFF"/>
                </a:solidFill>
                <a:latin typeface="Aptos"/>
              </a:defRPr>
            </a:pPr>
            <a:r>
              <a:rPr dirty="0"/>
              <a:t>Plataforma de </a:t>
            </a:r>
            <a:r>
              <a:rPr dirty="0" err="1"/>
              <a:t>extracción</a:t>
            </a:r>
            <a:r>
              <a:rPr dirty="0"/>
              <a:t> </a:t>
            </a:r>
            <a:r>
              <a:rPr dirty="0" err="1"/>
              <a:t>semántica</a:t>
            </a:r>
            <a:r>
              <a:rPr dirty="0"/>
              <a:t> de </a:t>
            </a:r>
            <a:r>
              <a:rPr dirty="0" err="1"/>
              <a:t>reglas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y </a:t>
            </a:r>
            <a:endParaRPr lang="es-419" dirty="0"/>
          </a:p>
          <a:p>
            <a:pPr algn="l">
              <a:spcAft>
                <a:spcPts val="300"/>
              </a:spcAft>
              <a:defRPr sz="2000" b="0" i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especificación</a:t>
            </a:r>
            <a:r>
              <a:rPr dirty="0"/>
              <a:t> </a:t>
            </a:r>
            <a:r>
              <a:rPr dirty="0" err="1"/>
              <a:t>asistida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4297680"/>
            <a:ext cx="6446520" cy="0"/>
          </a:xfrm>
          <a:prstGeom prst="line">
            <a:avLst/>
          </a:prstGeom>
          <a:ln w="25400">
            <a:solidFill>
              <a:srgbClr val="219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526280"/>
            <a:ext cx="6858000" cy="5943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BED3E1"/>
                </a:solidFill>
                <a:latin typeface="Aptos"/>
              </a:defRPr>
            </a:pPr>
            <a:r>
              <a:t>Legacy-to-Cloud Modernization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FFFFFF"/>
                </a:solidFill>
                <a:latin typeface="Aptos"/>
              </a:defRPr>
            </a:pPr>
            <a:r>
              <a:t>PoC G2 aprobado  →  Industrialización G3  →  Escalado sostenible G4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6172200"/>
            <a:ext cx="246888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ACTIVIDAD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La decisión ejecutiva: escalar a nivel corporativo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De una prueba de concepto validada a una capacidad industrial sostenible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64208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64208"/>
            <a:ext cx="82296" cy="1417320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737360"/>
            <a:ext cx="32461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1305B"/>
                </a:solidFill>
                <a:latin typeface="Aptos"/>
              </a:defRPr>
            </a:pPr>
            <a:r>
              <a:t>EVIDENCIA TÉCNICA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03120"/>
            <a:ext cx="324612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Recall 91,2%  ·  Precisión 86,5%</a:t>
            </a:r>
          </a:p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Ahorro de tiempo medido: 52%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64208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25112" y="1664208"/>
            <a:ext cx="82296" cy="1417320"/>
          </a:xfrm>
          <a:prstGeom prst="rect">
            <a:avLst/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9704" y="1737360"/>
            <a:ext cx="32461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1305B"/>
                </a:solidFill>
                <a:latin typeface="Aptos"/>
              </a:defRPr>
            </a:pPr>
            <a:r>
              <a:t>VALOR DE NEGOCIO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03120"/>
            <a:ext cx="324612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ROI 192%  ·  VAN US$ 200K</a:t>
            </a:r>
          </a:p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Payback: mes 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64208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664208"/>
            <a:ext cx="82296" cy="1417320"/>
          </a:xfrm>
          <a:prstGeom prst="rect">
            <a:avLst/>
          </a:prstGeom>
          <a:solidFill>
            <a:srgbClr val="E18231"/>
          </a:solidFill>
          <a:ln>
            <a:solidFill>
              <a:srgbClr val="E1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737360"/>
            <a:ext cx="32461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1305B"/>
                </a:solidFill>
                <a:latin typeface="Aptos"/>
              </a:defRPr>
            </a:pPr>
            <a:r>
              <a:t>PREPARACIÓN PARA ESCALAR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103120"/>
            <a:ext cx="324612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t>Legal, MLOps, costes y adopción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t>con prerrequisitos validados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20440"/>
            <a:ext cx="1069848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DICTAMEN FINAL: ESCALAR (GATE G4)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3326" y="4181546"/>
            <a:ext cx="8414868" cy="1009507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7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La </a:t>
            </a:r>
            <a:r>
              <a:rPr dirty="0" err="1"/>
              <a:t>solución</a:t>
            </a:r>
            <a:r>
              <a:rPr dirty="0"/>
              <a:t> reduce el </a:t>
            </a:r>
            <a:r>
              <a:rPr dirty="0" err="1"/>
              <a:t>trabajo</a:t>
            </a:r>
            <a:r>
              <a:rPr dirty="0"/>
              <a:t> no </a:t>
            </a:r>
            <a:r>
              <a:rPr dirty="0" err="1"/>
              <a:t>facturable</a:t>
            </a:r>
            <a:r>
              <a:rPr dirty="0"/>
              <a:t> de </a:t>
            </a:r>
            <a:r>
              <a:rPr dirty="0" err="1"/>
              <a:t>lectura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, </a:t>
            </a:r>
            <a:r>
              <a:rPr dirty="0" err="1"/>
              <a:t>mantiene</a:t>
            </a:r>
            <a:r>
              <a:rPr dirty="0"/>
              <a:t> </a:t>
            </a:r>
            <a:r>
              <a:rPr dirty="0" err="1"/>
              <a:t>trazabilidad</a:t>
            </a:r>
            <a:r>
              <a:rPr dirty="0"/>
              <a:t> y </a:t>
            </a:r>
            <a:endParaRPr lang="es-419" dirty="0"/>
          </a:p>
          <a:p>
            <a:pPr algn="ctr">
              <a:spcAft>
                <a:spcPts val="300"/>
              </a:spcAft>
              <a:defRPr sz="1700" b="0" i="0">
                <a:solidFill>
                  <a:srgbClr val="263342"/>
                </a:solidFill>
                <a:latin typeface="Aptos"/>
              </a:defRPr>
            </a:pPr>
            <a:r>
              <a:rPr dirty="0" err="1"/>
              <a:t>convierte</a:t>
            </a:r>
            <a:r>
              <a:rPr dirty="0"/>
              <a:t> la </a:t>
            </a:r>
            <a:r>
              <a:rPr dirty="0" err="1"/>
              <a:t>asistencia</a:t>
            </a:r>
            <a:r>
              <a:rPr dirty="0"/>
              <a:t> de IA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especificaciones</a:t>
            </a:r>
            <a:r>
              <a:rPr dirty="0"/>
              <a:t> </a:t>
            </a:r>
            <a:r>
              <a:rPr dirty="0" err="1"/>
              <a:t>revisables</a:t>
            </a:r>
            <a:r>
              <a:rPr dirty="0"/>
              <a:t> </a:t>
            </a:r>
            <a:endParaRPr lang="es-419" dirty="0"/>
          </a:p>
          <a:p>
            <a:pPr algn="ctr">
              <a:spcAft>
                <a:spcPts val="300"/>
              </a:spcAft>
              <a:defRPr sz="17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y </a:t>
            </a:r>
            <a:r>
              <a:rPr dirty="0" err="1"/>
              <a:t>firmadas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arquitecto</a:t>
            </a:r>
            <a:r>
              <a:rPr dirty="0"/>
              <a:t> </a:t>
            </a:r>
            <a:r>
              <a:rPr dirty="0" err="1"/>
              <a:t>humano</a:t>
            </a:r>
            <a:r>
              <a:rPr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HOJA DE RUTA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Continuidad estratégica: de G2 a G4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3246120" cy="196596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3246120" cy="109728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288036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900" b="1" i="0">
                <a:solidFill>
                  <a:srgbClr val="11305B"/>
                </a:solidFill>
                <a:latin typeface="Aptos"/>
              </a:defRPr>
            </a:pPr>
            <a:r>
              <a:t>G2 · 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33472"/>
            <a:ext cx="288036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007777"/>
                </a:solidFill>
                <a:latin typeface="Aptos"/>
              </a:defRPr>
            </a:pPr>
            <a:r>
              <a:t>US$ 20K</a:t>
            </a:r>
          </a:p>
          <a:p>
            <a:pPr algn="l">
              <a:spcAft>
                <a:spcPts val="300"/>
              </a:spcAft>
              <a:defRPr sz="1800" b="1" i="0">
                <a:solidFill>
                  <a:srgbClr val="007777"/>
                </a:solidFill>
                <a:latin typeface="Aptos"/>
              </a:defRPr>
            </a:pPr>
            <a:r>
              <a:t>8 semanas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200400"/>
            <a:ext cx="3120085" cy="55553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Validar </a:t>
            </a:r>
            <a:r>
              <a:rPr dirty="0" err="1"/>
              <a:t>hipótesis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3 </a:t>
            </a:r>
            <a:r>
              <a:rPr dirty="0" err="1"/>
              <a:t>módulos</a:t>
            </a:r>
            <a:r>
              <a:rPr dirty="0"/>
              <a:t> </a:t>
            </a:r>
            <a:r>
              <a:rPr dirty="0" err="1"/>
              <a:t>históricos</a:t>
            </a:r>
            <a:r>
              <a:rPr dirty="0"/>
              <a:t> </a:t>
            </a:r>
            <a:endParaRPr lang="es-419" dirty="0"/>
          </a:p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rPr dirty="0" err="1"/>
              <a:t>certificados</a:t>
            </a:r>
            <a:endParaRPr dirty="0"/>
          </a:p>
        </p:txBody>
      </p:sp>
      <p:cxnSp>
        <p:nvCxnSpPr>
          <p:cNvPr id="12" name="Connector 11"/>
          <p:cNvCxnSpPr/>
          <p:nvPr/>
        </p:nvCxnSpPr>
        <p:spPr>
          <a:xfrm>
            <a:off x="3977639" y="2880360"/>
            <a:ext cx="411481" cy="0"/>
          </a:xfrm>
          <a:prstGeom prst="line">
            <a:avLst/>
          </a:prstGeom>
          <a:ln w="25400">
            <a:solidFill>
              <a:srgbClr val="00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0791" y="2560320"/>
            <a:ext cx="32004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00777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920240"/>
            <a:ext cx="3246120" cy="196596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920240"/>
            <a:ext cx="3246120" cy="109728"/>
          </a:xfrm>
          <a:prstGeom prst="rect">
            <a:avLst/>
          </a:prstGeom>
          <a:solidFill>
            <a:srgbClr val="E18231"/>
          </a:solidFill>
          <a:ln>
            <a:solidFill>
              <a:srgbClr val="E1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90872" y="2148840"/>
            <a:ext cx="288036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900" b="1" i="0">
                <a:solidFill>
                  <a:srgbClr val="11305B"/>
                </a:solidFill>
                <a:latin typeface="Aptos"/>
              </a:defRPr>
            </a:pPr>
            <a:r>
              <a:t>G3 · Operación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633472"/>
            <a:ext cx="288036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E18231"/>
                </a:solidFill>
                <a:latin typeface="Aptos"/>
              </a:defRPr>
            </a:pPr>
            <a:r>
              <a:t>Pipeline productivo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3200400"/>
            <a:ext cx="2159374" cy="55553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rPr dirty="0" err="1"/>
              <a:t>Integración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,</a:t>
            </a:r>
            <a:endParaRPr lang="es-419" dirty="0"/>
          </a:p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monitorización</a:t>
            </a:r>
            <a:r>
              <a:rPr dirty="0"/>
              <a:t> y control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18120" y="2880360"/>
            <a:ext cx="411480" cy="0"/>
          </a:xfrm>
          <a:prstGeom prst="line">
            <a:avLst/>
          </a:prstGeom>
          <a:ln w="25400">
            <a:solidFill>
              <a:srgbClr val="00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91272" y="2560320"/>
            <a:ext cx="32004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00777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1920240"/>
            <a:ext cx="3246120" cy="196596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66760" y="1920240"/>
            <a:ext cx="3246120" cy="109728"/>
          </a:xfrm>
          <a:prstGeom prst="rect">
            <a:avLst/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31352" y="2148840"/>
            <a:ext cx="288036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900" b="1" i="0">
                <a:solidFill>
                  <a:srgbClr val="11305B"/>
                </a:solidFill>
                <a:latin typeface="Aptos"/>
              </a:defRPr>
            </a:pPr>
            <a:r>
              <a:t>G4 · Escalado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2633472"/>
            <a:ext cx="288036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26895C"/>
                </a:solidFill>
                <a:latin typeface="Aptos"/>
              </a:defRPr>
            </a:pPr>
            <a:r>
              <a:t>2 → 16 módulos/año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3200400"/>
            <a:ext cx="3094309" cy="55553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rPr dirty="0" err="1"/>
              <a:t>Industrialización</a:t>
            </a:r>
            <a:r>
              <a:rPr dirty="0"/>
              <a:t> </a:t>
            </a:r>
            <a:r>
              <a:rPr dirty="0" err="1"/>
              <a:t>corporativa</a:t>
            </a:r>
            <a:r>
              <a:rPr dirty="0"/>
              <a:t> sin </a:t>
            </a:r>
            <a:r>
              <a:rPr dirty="0" err="1"/>
              <a:t>crecimiento</a:t>
            </a:r>
            <a:endParaRPr lang="es-419" dirty="0"/>
          </a:p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 lineal de </a:t>
            </a:r>
            <a:r>
              <a:rPr dirty="0" err="1"/>
              <a:t>plantilla</a:t>
            </a:r>
            <a:r>
              <a:rPr dirty="0"/>
              <a:t> senior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10607040" cy="5943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1305B"/>
                </a:solidFill>
                <a:latin typeface="Aptos"/>
              </a:defRPr>
            </a:pPr>
            <a:r>
              <a:t>Marco de referencia: B3. Arquitectura, Desarrollo y Operación de Soluciones de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49240"/>
            <a:ext cx="1060704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Referencias conceptuales: Huyen (2022); Sculley et al. (2015); Breck et al. (2017); Amershi et al. (2019).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1 · PREPARACIÓN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Data Readiness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Plantilla 1 adaptada: valoración de los activos necesarios para operar el pipeline semántico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72768"/>
            <a:ext cx="10972800" cy="475488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10698480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11305B"/>
                </a:solidFill>
                <a:latin typeface="Aptos"/>
              </a:defRPr>
            </a:pPr>
            <a:r>
              <a:t>Caso: extracción semántica de código legacy  |  Owner: Lead Enterprise Architect &amp; AI Data Lead  |  Objetivo: inferencia trazable y sin sesgo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76272"/>
            <a:ext cx="2214242" cy="324612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" y="2185415"/>
            <a:ext cx="214109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Dimensión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8602" y="2176272"/>
            <a:ext cx="7085574" cy="324612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45178" y="2185415"/>
            <a:ext cx="7012422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Evidencia / riesgo clave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94177" y="2176272"/>
            <a:ext cx="1672982" cy="324612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30753" y="2185415"/>
            <a:ext cx="159983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Valoración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500884"/>
            <a:ext cx="2214242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" y="2510027"/>
            <a:ext cx="214109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263342"/>
                </a:solidFill>
                <a:latin typeface="Aptos"/>
              </a:defRPr>
            </a:pPr>
            <a:r>
              <a:t>Fuentes y disponibilidad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08602" y="2500884"/>
            <a:ext cx="7085574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45178" y="2510027"/>
            <a:ext cx="7012422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Repositorios Git con COBOL, copybooks y JCL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94177" y="2500884"/>
            <a:ext cx="1672982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30753" y="2510027"/>
            <a:ext cx="159983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4 · Sólido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825496"/>
            <a:ext cx="2214242" cy="324612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" y="2834639"/>
            <a:ext cx="214109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263342"/>
                </a:solidFill>
                <a:latin typeface="Aptos"/>
              </a:defRPr>
            </a:pPr>
            <a:r>
              <a:t>Accesibilidad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08602" y="2825496"/>
            <a:ext cx="7085574" cy="324612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45178" y="2834639"/>
            <a:ext cx="7012422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Cláusula de no-retención y tenant dedicado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94177" y="2825496"/>
            <a:ext cx="1672982" cy="324612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30753" y="2834639"/>
            <a:ext cx="159983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3 · Aceptable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150108"/>
            <a:ext cx="2214242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" y="3159251"/>
            <a:ext cx="214109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263342"/>
                </a:solidFill>
                <a:latin typeface="Aptos"/>
              </a:defRPr>
            </a:pPr>
            <a:r>
              <a:t>Calidad de datos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08602" y="3150108"/>
            <a:ext cx="7085574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45178" y="3159251"/>
            <a:ext cx="7012422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Código sintácticamente determinista; macros de terceros faltantes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94177" y="3150108"/>
            <a:ext cx="1672982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30753" y="3159251"/>
            <a:ext cx="159983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4 · Sólido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3474720"/>
            <a:ext cx="2214242" cy="324612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" y="3483863"/>
            <a:ext cx="214109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263342"/>
                </a:solidFill>
                <a:latin typeface="Aptos"/>
              </a:defRPr>
            </a:pPr>
            <a:r>
              <a:t>Granularidad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8602" y="3474720"/>
            <a:ext cx="7085574" cy="324612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45178" y="3483863"/>
            <a:ext cx="7012422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Línea, PERFORM, bloques de control, SQL/VSAM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94177" y="3474720"/>
            <a:ext cx="1672982" cy="324612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30753" y="3483863"/>
            <a:ext cx="159983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5 · Listo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3799331"/>
            <a:ext cx="2214242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" y="3808475"/>
            <a:ext cx="214109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263342"/>
                </a:solidFill>
                <a:latin typeface="Aptos"/>
              </a:defRPr>
            </a:pPr>
            <a:r>
              <a:t>Frecuencia y latencia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08602" y="3799331"/>
            <a:ext cx="7085574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45178" y="3808475"/>
            <a:ext cx="7012422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Batch/asíncrono por módulo; no requiere milisegundos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94177" y="3799331"/>
            <a:ext cx="1672982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30753" y="3808475"/>
            <a:ext cx="159983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4 · Sólido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4123944"/>
            <a:ext cx="2214242" cy="324612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0936" y="4133087"/>
            <a:ext cx="214109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263342"/>
                </a:solidFill>
                <a:latin typeface="Aptos"/>
              </a:defRPr>
            </a:pPr>
            <a:r>
              <a:t>Linaje y trazabilidad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08602" y="4123944"/>
            <a:ext cx="7085574" cy="324612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45178" y="4133087"/>
            <a:ext cx="7012422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Git commit vinculado a AST y chunks del grafo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94177" y="4123944"/>
            <a:ext cx="1672982" cy="324612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930753" y="4133087"/>
            <a:ext cx="159983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4 · Sólido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4448556"/>
            <a:ext cx="2214242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936" y="4457700"/>
            <a:ext cx="214109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263342"/>
                </a:solidFill>
                <a:latin typeface="Aptos"/>
              </a:defRPr>
            </a:pPr>
            <a:r>
              <a:t>Representatividad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08602" y="4448556"/>
            <a:ext cx="7085574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845178" y="4457700"/>
            <a:ext cx="7012422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Dialectos antiguos subrepresentados en prompts estándar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94177" y="4448556"/>
            <a:ext cx="1672982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930753" y="4457700"/>
            <a:ext cx="159983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3 · Aceptable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4773168"/>
            <a:ext cx="2214242" cy="324612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0936" y="4782312"/>
            <a:ext cx="214109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263342"/>
                </a:solidFill>
                <a:latin typeface="Aptos"/>
              </a:defRPr>
            </a:pPr>
            <a:r>
              <a:t>Ground truth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08602" y="4773168"/>
            <a:ext cx="7085574" cy="324612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45178" y="4782312"/>
            <a:ext cx="7012422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3 módulos históricos certificados como reglas doradas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94177" y="4773168"/>
            <a:ext cx="1672982" cy="324612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930753" y="4782312"/>
            <a:ext cx="159983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4 · Sólido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5097779"/>
            <a:ext cx="2214242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0936" y="5106923"/>
            <a:ext cx="214109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263342"/>
                </a:solidFill>
                <a:latin typeface="Aptos"/>
              </a:defRPr>
            </a:pPr>
            <a:r>
              <a:t>Training vs. producción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08602" y="5097779"/>
            <a:ext cx="7085574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845178" y="5106923"/>
            <a:ext cx="7012422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Preprocesamiento AST estandarizado en inferencia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94177" y="5097779"/>
            <a:ext cx="1672982" cy="324612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930753" y="5106923"/>
            <a:ext cx="1599830" cy="30632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4 · Sólido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5577840"/>
            <a:ext cx="3429000" cy="658368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40080" y="5577840"/>
            <a:ext cx="82296" cy="658368"/>
          </a:xfrm>
          <a:prstGeom prst="rect">
            <a:avLst/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04671" y="5650992"/>
            <a:ext cx="31546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1305B"/>
                </a:solidFill>
                <a:latin typeface="Aptos"/>
              </a:defRPr>
            </a:pPr>
            <a:r>
              <a:t>FORTALEZAS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4671" y="6016752"/>
            <a:ext cx="3154680" cy="15544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Código estructurado y trazable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370832" y="5577840"/>
            <a:ext cx="3429000" cy="658368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4370832" y="5577840"/>
            <a:ext cx="82296" cy="658368"/>
          </a:xfrm>
          <a:prstGeom prst="rect">
            <a:avLst/>
          </a:prstGeom>
          <a:solidFill>
            <a:srgbClr val="E18231"/>
          </a:solidFill>
          <a:ln>
            <a:solidFill>
              <a:srgbClr val="E1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535424" y="5650992"/>
            <a:ext cx="31546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11305B"/>
                </a:solidFill>
                <a:latin typeface="Aptos"/>
              </a:defRPr>
            </a:pPr>
            <a:r>
              <a:t>GAPS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35424" y="6016752"/>
            <a:ext cx="3154680" cy="15544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Privacidad legal (R1) y dialectos/macros (R2)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092440" y="5577840"/>
            <a:ext cx="3429000" cy="658368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092440" y="5577840"/>
            <a:ext cx="82296" cy="658368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57031" y="5650992"/>
            <a:ext cx="31546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11305B"/>
                </a:solidFill>
                <a:latin typeface="Aptos"/>
              </a:defRPr>
            </a:pPr>
            <a:r>
              <a:t>SIGUIENTE DECISIÓN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57031" y="6016752"/>
            <a:ext cx="3154680" cy="15544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Ingesta automatizada en Azure/VPC privada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1 · PREPARACIÓN DE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Del modelo aislado a la solución industrializada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257800" cy="356616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82296" cy="3566160"/>
          </a:xfrm>
          <a:prstGeom prst="rect">
            <a:avLst/>
          </a:prstGeom>
          <a:solidFill>
            <a:srgbClr val="E18231"/>
          </a:solidFill>
          <a:ln>
            <a:solidFill>
              <a:srgbClr val="E1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64792"/>
            <a:ext cx="49834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1305B"/>
                </a:solidFill>
                <a:latin typeface="Aptos"/>
              </a:defRPr>
            </a:pPr>
            <a:r>
              <a:t>PoC · Gate G2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30552"/>
            <a:ext cx="4983480" cy="306323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• Script de inferencia y prompts ad hoc</a:t>
            </a:r>
          </a:p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• Ingesta manual de fragmentos COBOL/JCL</a:t>
            </a:r>
          </a:p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• Evaluación offline en 3 módulos espejo</a:t>
            </a:r>
          </a:p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• Salida en texto plano / Markdown volátil</a:t>
            </a:r>
          </a:p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• Sin monitorización ni control de costes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257800" cy="356616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82296" cy="3566160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764792"/>
            <a:ext cx="49834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1305B"/>
                </a:solidFill>
                <a:latin typeface="Aptos"/>
              </a:defRPr>
            </a:pPr>
            <a:r>
              <a:t>Producción · G3/G4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130552"/>
            <a:ext cx="4983480" cy="306323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• Pipeline CI/CD/CT automatizado y linaje end-to-end</a:t>
            </a:r>
          </a:p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• Parser AST y grafo de conocimiento</a:t>
            </a:r>
          </a:p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• Integración CLI/IDE, Jira y Azure DevOps</a:t>
            </a:r>
          </a:p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• Especificaciones auditables: OpenAPI + Gherkin</a:t>
            </a:r>
          </a:p>
          <a:p>
            <a:pPr algn="l">
              <a:spcAft>
                <a:spcPts val="300"/>
              </a:spcAft>
              <a:defRPr sz="1600" b="0" i="0">
                <a:solidFill>
                  <a:srgbClr val="263342"/>
                </a:solidFill>
                <a:latin typeface="Aptos"/>
              </a:defRPr>
            </a:pPr>
            <a:r>
              <a:t>• Telemetría de tokens, latencia, drift y fallbacks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11305B"/>
                </a:solidFill>
                <a:latin typeface="Aptos"/>
              </a:defRPr>
            </a:pPr>
            <a:r>
              <a:t>La solución industrializada convierte predicciones en decisiones operativas auditables dentro de un sistema sociotécnico.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1 · ARQUITECTURA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AI Solution Architecture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Plantilla 2 adaptada: flujos desacoplados de preparación/indexación e inferencia/asistencia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82296" cy="1417320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901952"/>
            <a:ext cx="29260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1305B"/>
                </a:solidFill>
                <a:latin typeface="Aptos"/>
              </a:defRPr>
            </a:pPr>
            <a:r>
              <a:t>1 · DATOS &amp; PREPROCESAMIENTO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267712"/>
            <a:ext cx="292608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Repositorios COBOL/JCL/DDL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Parser AST multidialecto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Extractor de linaje → Vector/Graph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82296" cy="1417320"/>
          </a:xfrm>
          <a:prstGeom prst="rect">
            <a:avLst/>
          </a:prstGeom>
          <a:solidFill>
            <a:srgbClr val="E18231"/>
          </a:solidFill>
          <a:ln>
            <a:solidFill>
              <a:srgbClr val="E1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901952"/>
            <a:ext cx="29260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1305B"/>
                </a:solidFill>
                <a:latin typeface="Aptos"/>
              </a:defRPr>
            </a:pPr>
            <a:r>
              <a:t>2 · MODELO &amp; RAZONAMIENTO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267712"/>
            <a:ext cx="292608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Orquestador RAG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Prompt Engine (Gherkin/DDD)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LLM privado: Azure OpenAI / Claude VPC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28800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82296" cy="1417320"/>
          </a:xfrm>
          <a:prstGeom prst="rect">
            <a:avLst/>
          </a:prstGeom>
          <a:solidFill>
            <a:srgbClr val="11305B"/>
          </a:solidFill>
          <a:ln>
            <a:solidFill>
              <a:srgbClr val="11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85632" y="1901952"/>
            <a:ext cx="29260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1305B"/>
                </a:solidFill>
                <a:latin typeface="Aptos"/>
              </a:defRPr>
            </a:pPr>
            <a:r>
              <a:t>3 · SERVICIO &amp; DESPLIEGUE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267712"/>
            <a:ext cx="292608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FastAPI Worker batch/asíncrono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Celery/Redis para tareas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Generador OpenAPI v3.0 y tablas Markdown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840480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0" y="3840480"/>
            <a:ext cx="82296" cy="1417320"/>
          </a:xfrm>
          <a:prstGeom prst="rect">
            <a:avLst/>
          </a:prstGeom>
          <a:solidFill>
            <a:srgbClr val="21968C"/>
          </a:solidFill>
          <a:ln>
            <a:solidFill>
              <a:srgbClr val="21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24912" y="3913632"/>
            <a:ext cx="29260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1305B"/>
                </a:solidFill>
                <a:latin typeface="Aptos"/>
              </a:defRPr>
            </a:pPr>
            <a:r>
              <a:t>4 · INTEGRACIÓN &amp; CONSUMO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912" y="4279392"/>
            <a:ext cx="292608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CLI corporativo / extensión VS Code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Jira / Azure DevOps: historias y trazas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Confluence: documentación certificada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840480"/>
            <a:ext cx="3200400" cy="141732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3840480"/>
            <a:ext cx="82296" cy="1417320"/>
          </a:xfrm>
          <a:prstGeom prst="rect">
            <a:avLst/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65392" y="3913632"/>
            <a:ext cx="292608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1305B"/>
                </a:solidFill>
                <a:latin typeface="Aptos"/>
              </a:defRPr>
            </a:pPr>
            <a:r>
              <a:t>5 · SUPERVISIÓN &amp; OPERACIÓN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4279392"/>
            <a:ext cx="292608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Human-in-the-loop: revisión de confianza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Telemetría: tokens, latencia y feedback PO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63342"/>
                </a:solidFill>
                <a:latin typeface="Aptos"/>
              </a:defRPr>
            </a:pPr>
            <a:r>
              <a:t>Banderas de confianza y fallbacks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40480" y="2514600"/>
            <a:ext cx="502920" cy="0"/>
          </a:xfrm>
          <a:prstGeom prst="line">
            <a:avLst/>
          </a:prstGeom>
          <a:ln w="25400">
            <a:solidFill>
              <a:srgbClr val="00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80960" y="2514600"/>
            <a:ext cx="502919" cy="0"/>
          </a:xfrm>
          <a:prstGeom prst="line">
            <a:avLst/>
          </a:prstGeom>
          <a:ln w="25400">
            <a:solidFill>
              <a:srgbClr val="00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229600" y="3291840"/>
            <a:ext cx="1691640" cy="457199"/>
          </a:xfrm>
          <a:prstGeom prst="line">
            <a:avLst/>
          </a:prstGeom>
          <a:ln w="1778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474720" y="3291840"/>
            <a:ext cx="640080" cy="457199"/>
          </a:xfrm>
          <a:prstGeom prst="line">
            <a:avLst/>
          </a:prstGeom>
          <a:ln w="1778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85800" y="5623560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11305B"/>
          </a:solidFill>
          <a:ln>
            <a:solidFill>
              <a:srgbClr val="11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5669280"/>
            <a:ext cx="1060704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CAPAS TRANSVERSALES: Zero-Retention · Gobierno · OpenTelemetry · Trazabilidad Git/DVC · Aislamiento criptográfico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1 ·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Decisiones de diseño que hacen viable la operación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82296" cy="1874519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810512"/>
            <a:ext cx="32461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1305B"/>
                </a:solidFill>
                <a:latin typeface="Aptos"/>
              </a:defRPr>
            </a:pPr>
            <a:r>
              <a:t>Diseñar desde la decisión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76272"/>
            <a:ext cx="2926186" cy="64787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La salida </a:t>
            </a:r>
            <a:r>
              <a:rPr dirty="0" err="1"/>
              <a:t>alimenta</a:t>
            </a:r>
            <a:r>
              <a:rPr dirty="0"/>
              <a:t> el checklist de </a:t>
            </a:r>
            <a:endParaRPr lang="es-419" dirty="0"/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 err="1"/>
              <a:t>aprobación</a:t>
            </a:r>
            <a:r>
              <a:rPr dirty="0"/>
              <a:t> del </a:t>
            </a:r>
            <a:r>
              <a:rPr dirty="0" err="1"/>
              <a:t>arquitecto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82296" cy="1874519"/>
          </a:xfrm>
          <a:prstGeom prst="rect">
            <a:avLst/>
          </a:prstGeom>
          <a:solidFill>
            <a:srgbClr val="E18231"/>
          </a:solidFill>
          <a:ln>
            <a:solidFill>
              <a:srgbClr val="E1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810512"/>
            <a:ext cx="32461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1305B"/>
                </a:solidFill>
                <a:latin typeface="Aptos"/>
              </a:defRPr>
            </a:pPr>
            <a:r>
              <a:t>Separar ingesta e inferencia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176272"/>
            <a:ext cx="2729017" cy="64787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Evita </a:t>
            </a:r>
            <a:r>
              <a:rPr dirty="0" err="1"/>
              <a:t>bloquear</a:t>
            </a:r>
            <a:r>
              <a:rPr dirty="0"/>
              <a:t> el IDE al </a:t>
            </a:r>
            <a:r>
              <a:rPr dirty="0" err="1"/>
              <a:t>indexar</a:t>
            </a:r>
            <a:r>
              <a:rPr dirty="0"/>
              <a:t> </a:t>
            </a:r>
            <a:endParaRPr lang="es-419" dirty="0"/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 err="1"/>
              <a:t>millones</a:t>
            </a:r>
            <a:r>
              <a:rPr dirty="0"/>
              <a:t> de </a:t>
            </a:r>
            <a:r>
              <a:rPr dirty="0" err="1"/>
              <a:t>líneas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73736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737360"/>
            <a:ext cx="82296" cy="1874519"/>
          </a:xfrm>
          <a:prstGeom prst="rect">
            <a:avLst/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5592" y="1810512"/>
            <a:ext cx="32461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1305B"/>
                </a:solidFill>
                <a:latin typeface="Aptos"/>
              </a:defRPr>
            </a:pPr>
            <a:r>
              <a:t>Zero-Retention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176272"/>
            <a:ext cx="3146759" cy="64787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No </a:t>
            </a:r>
            <a:r>
              <a:rPr dirty="0" err="1"/>
              <a:t>persistir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usar </a:t>
            </a:r>
            <a:r>
              <a:rPr dirty="0" err="1"/>
              <a:t>datos</a:t>
            </a:r>
            <a:r>
              <a:rPr dirty="0"/>
              <a:t> del </a:t>
            </a:r>
            <a:r>
              <a:rPr dirty="0" err="1"/>
              <a:t>cliente</a:t>
            </a:r>
            <a:r>
              <a:rPr dirty="0"/>
              <a:t> </a:t>
            </a:r>
            <a:endParaRPr lang="es-419" dirty="0"/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para </a:t>
            </a:r>
            <a:r>
              <a:rPr dirty="0" err="1"/>
              <a:t>reentrenamiento</a:t>
            </a:r>
            <a:r>
              <a:rPr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69080"/>
            <a:ext cx="10698480" cy="109728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37190" y="4255536"/>
            <a:ext cx="8287140" cy="678647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600" b="1" i="0">
                <a:solidFill>
                  <a:srgbClr val="11305B"/>
                </a:solidFill>
                <a:latin typeface="Aptos"/>
              </a:defRPr>
            </a:pPr>
            <a:r>
              <a:rPr dirty="0" err="1"/>
              <a:t>Patrón</a:t>
            </a:r>
            <a:r>
              <a:rPr dirty="0"/>
              <a:t> de </a:t>
            </a:r>
            <a:r>
              <a:rPr dirty="0" err="1"/>
              <a:t>servicio</a:t>
            </a:r>
            <a:r>
              <a:rPr dirty="0"/>
              <a:t>: un </a:t>
            </a:r>
            <a:r>
              <a:rPr dirty="0" err="1"/>
              <a:t>módulo</a:t>
            </a:r>
            <a:r>
              <a:rPr dirty="0"/>
              <a:t> de 50K LOC se </a:t>
            </a:r>
            <a:r>
              <a:rPr dirty="0" err="1"/>
              <a:t>procesa</a:t>
            </a:r>
            <a:r>
              <a:rPr dirty="0"/>
              <a:t> de forma robusta </a:t>
            </a:r>
            <a:r>
              <a:rPr dirty="0" err="1"/>
              <a:t>en</a:t>
            </a:r>
            <a:r>
              <a:rPr dirty="0"/>
              <a:t> 5–15 </a:t>
            </a:r>
            <a:r>
              <a:rPr dirty="0" err="1"/>
              <a:t>minutos</a:t>
            </a:r>
            <a:r>
              <a:rPr dirty="0"/>
              <a:t> </a:t>
            </a:r>
            <a:endParaRPr lang="es-419" dirty="0"/>
          </a:p>
          <a:p>
            <a:pPr algn="ctr">
              <a:spcAft>
                <a:spcPts val="300"/>
              </a:spcAft>
              <a:defRPr sz="1600" b="1" i="0">
                <a:solidFill>
                  <a:srgbClr val="11305B"/>
                </a:solidFill>
                <a:latin typeface="Aptos"/>
              </a:defRPr>
            </a:pPr>
            <a:r>
              <a:rPr dirty="0"/>
              <a:t>con </a:t>
            </a:r>
            <a:r>
              <a:rPr dirty="0" err="1"/>
              <a:t>notificación</a:t>
            </a:r>
            <a:r>
              <a:rPr dirty="0"/>
              <a:t> de </a:t>
            </a:r>
            <a:r>
              <a:rPr dirty="0" err="1"/>
              <a:t>entrega</a:t>
            </a:r>
            <a:r>
              <a:rPr dirty="0"/>
              <a:t>; no se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respuesta</a:t>
            </a:r>
            <a:r>
              <a:rPr dirty="0"/>
              <a:t> </a:t>
            </a:r>
            <a:r>
              <a:rPr dirty="0" err="1"/>
              <a:t>interactiva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2 </a:t>
            </a:r>
            <a:r>
              <a:rPr dirty="0" err="1"/>
              <a:t>segundos</a:t>
            </a:r>
            <a:r>
              <a:rPr dirty="0"/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E6F7E"/>
                </a:solidFill>
                <a:latin typeface="Aptos"/>
              </a:defRPr>
            </a:pPr>
            <a:r>
              <a:rPr dirty="0"/>
              <a:t>Parser </a:t>
            </a:r>
            <a:r>
              <a:rPr dirty="0" err="1"/>
              <a:t>sintáctico</a:t>
            </a:r>
            <a:r>
              <a:rPr dirty="0"/>
              <a:t> AST </a:t>
            </a:r>
            <a:r>
              <a:rPr dirty="0" err="1"/>
              <a:t>preserva</a:t>
            </a:r>
            <a:r>
              <a:rPr dirty="0"/>
              <a:t> </a:t>
            </a:r>
            <a:r>
              <a:rPr dirty="0" err="1"/>
              <a:t>dependencias</a:t>
            </a:r>
            <a:r>
              <a:rPr dirty="0"/>
              <a:t> </a:t>
            </a:r>
            <a:r>
              <a:rPr dirty="0" err="1"/>
              <a:t>semánticas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PERFORM, CALL y </a:t>
            </a:r>
            <a:r>
              <a:rPr dirty="0" err="1"/>
              <a:t>sentencias</a:t>
            </a:r>
            <a:r>
              <a:rPr dirty="0"/>
              <a:t> SQL/VSAM.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2 · INDUSTRIALIZACIÓN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Baseline, métricas y criterios de aceptación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Separar rendimiento del modelo, sistema, operación y resultado de negocio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3248936" cy="58674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746504"/>
            <a:ext cx="3175784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Nivel / métrica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7304" y="1737360"/>
            <a:ext cx="2423810" cy="58674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43880" y="1746504"/>
            <a:ext cx="2350658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1114" y="1737360"/>
            <a:ext cx="2733232" cy="58674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7690" y="1746504"/>
            <a:ext cx="2660080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64347" y="1737360"/>
            <a:ext cx="2475380" cy="58674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00923" y="1746504"/>
            <a:ext cx="2402228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Gate G2/G3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324100"/>
            <a:ext cx="3248936" cy="5867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2333243"/>
            <a:ext cx="3175784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Recall / cobertura de reglas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7304" y="2324100"/>
            <a:ext cx="2423810" cy="5867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43880" y="2333243"/>
            <a:ext cx="2350658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Manual ≈ 65%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1114" y="2324100"/>
            <a:ext cx="2733232" cy="5867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7690" y="2333243"/>
            <a:ext cx="2660080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Target ≥ 90%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4347" y="2324100"/>
            <a:ext cx="2475380" cy="5867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00923" y="2333243"/>
            <a:ext cx="2402228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Crítico ≥ 85%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2910840"/>
            <a:ext cx="3248936" cy="5867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" y="2919984"/>
            <a:ext cx="3175784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Precisión semántica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07304" y="2910840"/>
            <a:ext cx="2423810" cy="5867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43880" y="2919984"/>
            <a:ext cx="2350658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Manual ≈ 80%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31114" y="2910840"/>
            <a:ext cx="2733232" cy="5867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67690" y="2919984"/>
            <a:ext cx="2660080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Target ≥ 85%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64347" y="2910840"/>
            <a:ext cx="2475380" cy="5867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00923" y="2919984"/>
            <a:ext cx="2402228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Aceptación ≥ 80%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497580"/>
            <a:ext cx="3248936" cy="5867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" y="3506724"/>
            <a:ext cx="3175784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Procesamiento por módulo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07304" y="3497580"/>
            <a:ext cx="2423810" cy="5867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43880" y="3506724"/>
            <a:ext cx="2350658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8 semanas humano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31114" y="3497580"/>
            <a:ext cx="2733232" cy="5867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67690" y="3506724"/>
            <a:ext cx="2660080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Target &lt; 30 min batch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64347" y="3497580"/>
            <a:ext cx="2475380" cy="5867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00923" y="3506724"/>
            <a:ext cx="2402228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&lt; 60 min por 50K LOC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084320"/>
            <a:ext cx="3248936" cy="5867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4944" y="4093464"/>
            <a:ext cx="3175784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Reducción neta del ciclo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07304" y="4084320"/>
            <a:ext cx="2423810" cy="5867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43880" y="4093464"/>
            <a:ext cx="2350658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8 semanas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31114" y="4084320"/>
            <a:ext cx="2733232" cy="5867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67690" y="4093464"/>
            <a:ext cx="2660080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Target 3 semanas (−62%)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64347" y="4084320"/>
            <a:ext cx="2475380" cy="5867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00923" y="4093464"/>
            <a:ext cx="2402228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≥ 40% (4,8 semanas)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4671060"/>
            <a:ext cx="3248936" cy="5867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4944" y="4680204"/>
            <a:ext cx="3175784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Defectos UAT por omisión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07304" y="4671060"/>
            <a:ext cx="2423810" cy="5867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43880" y="4680204"/>
            <a:ext cx="2350658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45% del total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31114" y="4671060"/>
            <a:ext cx="2733232" cy="5867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67690" y="4680204"/>
            <a:ext cx="2660080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Target &lt; 5% (−70%)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64347" y="4671060"/>
            <a:ext cx="2475380" cy="5867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00923" y="4680204"/>
            <a:ext cx="2402228" cy="5684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≤ 15%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490423"/>
            <a:ext cx="10900933" cy="58631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63342"/>
                </a:solidFill>
                <a:latin typeface="Aptos"/>
              </a:defRPr>
            </a:pPr>
            <a:r>
              <a:rPr dirty="0" err="1"/>
              <a:t>Racional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: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falsos</a:t>
            </a:r>
            <a:r>
              <a:rPr dirty="0"/>
              <a:t> </a:t>
            </a:r>
            <a:r>
              <a:rPr dirty="0" err="1"/>
              <a:t>negativos</a:t>
            </a:r>
            <a:r>
              <a:rPr dirty="0"/>
              <a:t> </a:t>
            </a:r>
            <a:r>
              <a:rPr dirty="0" err="1"/>
              <a:t>generan</a:t>
            </a:r>
            <a:r>
              <a:rPr dirty="0"/>
              <a:t> </a:t>
            </a:r>
            <a:r>
              <a:rPr dirty="0" err="1"/>
              <a:t>defectos</a:t>
            </a:r>
            <a:r>
              <a:rPr dirty="0"/>
              <a:t> </a:t>
            </a:r>
            <a:r>
              <a:rPr dirty="0" err="1"/>
              <a:t>tardíos</a:t>
            </a:r>
            <a:r>
              <a:rPr dirty="0"/>
              <a:t>; las </a:t>
            </a:r>
            <a:r>
              <a:rPr dirty="0" err="1"/>
              <a:t>reglas</a:t>
            </a:r>
            <a:r>
              <a:rPr dirty="0"/>
              <a:t> </a:t>
            </a:r>
            <a:r>
              <a:rPr dirty="0" err="1"/>
              <a:t>alucinadas</a:t>
            </a:r>
            <a:r>
              <a:rPr dirty="0"/>
              <a:t> </a:t>
            </a:r>
            <a:r>
              <a:rPr dirty="0" err="1"/>
              <a:t>aumentan</a:t>
            </a:r>
            <a:r>
              <a:rPr dirty="0"/>
              <a:t> la </a:t>
            </a:r>
            <a:r>
              <a:rPr dirty="0" err="1"/>
              <a:t>revisión</a:t>
            </a:r>
            <a:r>
              <a:rPr dirty="0"/>
              <a:t> senior; el </a:t>
            </a:r>
            <a:r>
              <a:rPr dirty="0" err="1"/>
              <a:t>ahorro</a:t>
            </a:r>
            <a:r>
              <a:rPr dirty="0"/>
              <a:t> de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descontar</a:t>
            </a:r>
            <a:r>
              <a:rPr dirty="0"/>
              <a:t> </a:t>
            </a:r>
            <a:endParaRPr lang="es-419" dirty="0"/>
          </a:p>
          <a:p>
            <a:pPr algn="l">
              <a:spcAft>
                <a:spcPts val="300"/>
              </a:spcAft>
              <a:defRPr sz="1300" b="0" i="0">
                <a:solidFill>
                  <a:srgbClr val="263342"/>
                </a:solidFill>
                <a:latin typeface="Aptos"/>
              </a:defRPr>
            </a:pPr>
            <a:r>
              <a:rPr dirty="0" err="1"/>
              <a:t>validación</a:t>
            </a:r>
            <a:r>
              <a:rPr dirty="0"/>
              <a:t> humana.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2 · INDUSTRIALIZACIÓN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Plan MLOps: CI / CD / 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Flujo continuo adaptado a arquitecturas RAG/LLM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520440" cy="333756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82296" cy="3337560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764792"/>
            <a:ext cx="32461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1305B"/>
                </a:solidFill>
                <a:latin typeface="Aptos"/>
              </a:defRPr>
            </a:pPr>
            <a:r>
              <a:t>1 · CONTINUOUS INTEGRATION (CI)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130552"/>
            <a:ext cx="2561855" cy="145578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• Linting y parsing COBOL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• Unit tests de parser AST y </a:t>
            </a:r>
            <a:endParaRPr lang="es-419" dirty="0"/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 err="1"/>
              <a:t>generadores</a:t>
            </a:r>
            <a:r>
              <a:rPr dirty="0"/>
              <a:t> </a:t>
            </a:r>
            <a:r>
              <a:rPr dirty="0" err="1"/>
              <a:t>OpenAPI</a:t>
            </a:r>
            <a:endParaRPr dirty="0"/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Regresión</a:t>
            </a:r>
            <a:r>
              <a:rPr dirty="0"/>
              <a:t> </a:t>
            </a:r>
            <a:r>
              <a:rPr dirty="0" err="1"/>
              <a:t>semántica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endParaRPr lang="es-419" dirty="0"/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3 </a:t>
            </a:r>
            <a:r>
              <a:rPr dirty="0" err="1"/>
              <a:t>módulos</a:t>
            </a:r>
            <a:r>
              <a:rPr dirty="0"/>
              <a:t> Ground Truth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91640"/>
            <a:ext cx="3520440" cy="333756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691640"/>
            <a:ext cx="82296" cy="3337560"/>
          </a:xfrm>
          <a:prstGeom prst="rect">
            <a:avLst/>
          </a:prstGeom>
          <a:solidFill>
            <a:srgbClr val="E18231"/>
          </a:solidFill>
          <a:ln>
            <a:solidFill>
              <a:srgbClr val="E1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764792"/>
            <a:ext cx="32461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1305B"/>
                </a:solidFill>
                <a:latin typeface="Aptos"/>
              </a:defRPr>
            </a:pPr>
            <a:r>
              <a:t>2 · DELIVERY / DEPLOYMENT (CD)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130552"/>
            <a:ext cx="2974660" cy="1455783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• Docker </a:t>
            </a:r>
            <a:r>
              <a:rPr dirty="0" err="1"/>
              <a:t>en</a:t>
            </a:r>
            <a:r>
              <a:rPr dirty="0"/>
              <a:t> Kubernetes privado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• Canary / Shadow para </a:t>
            </a:r>
            <a:r>
              <a:rPr dirty="0" err="1"/>
              <a:t>comparar</a:t>
            </a:r>
            <a:r>
              <a:rPr dirty="0"/>
              <a:t> </a:t>
            </a:r>
            <a:endParaRPr lang="es-419" dirty="0"/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 err="1"/>
              <a:t>concordancia</a:t>
            </a:r>
            <a:endParaRPr dirty="0"/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• Rollback </a:t>
            </a:r>
            <a:r>
              <a:rPr dirty="0" err="1"/>
              <a:t>inmediato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cae</a:t>
            </a:r>
            <a:r>
              <a:rPr dirty="0"/>
              <a:t> la </a:t>
            </a:r>
            <a:endParaRPr lang="es-419" dirty="0"/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 err="1"/>
              <a:t>precisión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3520440" cy="333756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691640"/>
            <a:ext cx="82296" cy="3337560"/>
          </a:xfrm>
          <a:prstGeom prst="rect">
            <a:avLst/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764792"/>
            <a:ext cx="32461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1305B"/>
                </a:solidFill>
                <a:latin typeface="Aptos"/>
              </a:defRPr>
            </a:pPr>
            <a:r>
              <a:t>3 · CONTINUOUS TUNING (CT)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130552"/>
            <a:ext cx="3298916" cy="118647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• No </a:t>
            </a:r>
            <a:r>
              <a:rPr dirty="0" err="1"/>
              <a:t>reentrenar</a:t>
            </a:r>
            <a:r>
              <a:rPr dirty="0"/>
              <a:t> el </a:t>
            </a:r>
            <a:r>
              <a:rPr dirty="0" err="1"/>
              <a:t>modelo</a:t>
            </a:r>
            <a:r>
              <a:rPr dirty="0"/>
              <a:t> base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Actualizar</a:t>
            </a:r>
            <a:r>
              <a:rPr dirty="0"/>
              <a:t> </a:t>
            </a:r>
            <a:r>
              <a:rPr dirty="0" err="1"/>
              <a:t>grafo</a:t>
            </a:r>
            <a:r>
              <a:rPr dirty="0"/>
              <a:t> de </a:t>
            </a:r>
            <a:r>
              <a:rPr dirty="0" err="1"/>
              <a:t>dependencias</a:t>
            </a:r>
            <a:endParaRPr dirty="0"/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Incorporar</a:t>
            </a:r>
            <a:r>
              <a:rPr dirty="0"/>
              <a:t> </a:t>
            </a:r>
            <a:r>
              <a:rPr dirty="0" err="1"/>
              <a:t>ejemplos</a:t>
            </a:r>
            <a:r>
              <a:rPr dirty="0"/>
              <a:t> few-shot </a:t>
            </a:r>
            <a:r>
              <a:rPr dirty="0" err="1"/>
              <a:t>desde</a:t>
            </a:r>
            <a:r>
              <a:rPr dirty="0"/>
              <a:t> </a:t>
            </a:r>
            <a:endParaRPr lang="es-419" dirty="0"/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rPr dirty="0" err="1"/>
              <a:t>correcciones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Jira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10607040" cy="5943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1305B"/>
                </a:solidFill>
                <a:latin typeface="Aptos"/>
              </a:defRPr>
            </a:pPr>
            <a:r>
              <a:t>Principio: evolucionar contexto, prompts y pipeline con control de versiones; evitar degradación y costes excesivos del reentrenamiento.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2 ·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Monitorización de drift: detectar, diagnosticar y actuar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Ciclo de control inspirado en NIST AI RMF y Huyen (2022)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993392"/>
            <a:ext cx="192024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11305B"/>
                </a:solidFill>
                <a:latin typeface="Aptos"/>
              </a:defRPr>
            </a:pPr>
            <a:r>
              <a:t>1 ·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331720"/>
            <a:ext cx="1920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Telemetría de inferencia</a:t>
            </a:r>
          </a:p>
          <a:p>
            <a:pPr algn="ctr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y feedback humano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212848"/>
            <a:ext cx="292608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800" b="1" i="0">
                <a:solidFill>
                  <a:srgbClr val="0077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1874519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35224" y="1993392"/>
            <a:ext cx="192024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007777"/>
                </a:solidFill>
                <a:latin typeface="Aptos"/>
              </a:defRPr>
            </a:pPr>
            <a:r>
              <a:t>2 · 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331720"/>
            <a:ext cx="1920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Anomalías, rechazo</a:t>
            </a:r>
          </a:p>
          <a:p>
            <a:pPr algn="ctr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o degradación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2212848"/>
            <a:ext cx="292608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800" b="1" i="0">
                <a:solidFill>
                  <a:srgbClr val="0077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1874519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94376" y="1993392"/>
            <a:ext cx="192024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E18231"/>
                </a:solidFill>
                <a:latin typeface="Aptos"/>
              </a:defRPr>
            </a:pPr>
            <a:r>
              <a:t>3 · DIAGNOSE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2331720"/>
            <a:ext cx="1920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Código, dialecto o</a:t>
            </a:r>
          </a:p>
          <a:p>
            <a:pPr algn="ctr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modelo subyacente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2212848"/>
            <a:ext cx="292608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800" b="1" i="0">
                <a:solidFill>
                  <a:srgbClr val="0077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0376" y="1874519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53528" y="1993392"/>
            <a:ext cx="192024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21968C"/>
                </a:solidFill>
                <a:latin typeface="Aptos"/>
              </a:defRPr>
            </a:pPr>
            <a:r>
              <a:t>4 · 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2331720"/>
            <a:ext cx="1920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Estrategia de</a:t>
            </a:r>
          </a:p>
          <a:p>
            <a:pPr algn="ctr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corrección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7776" y="2212848"/>
            <a:ext cx="292608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800" b="1" i="0">
                <a:solidFill>
                  <a:srgbClr val="0077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39528" y="1874519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12680" y="1993392"/>
            <a:ext cx="1920240" cy="2743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26895C"/>
                </a:solidFill>
                <a:latin typeface="Aptos"/>
              </a:defRPr>
            </a:pPr>
            <a:r>
              <a:t>5 · 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331720"/>
            <a:ext cx="1920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Intervención segura</a:t>
            </a:r>
          </a:p>
          <a:p>
            <a:pPr algn="ctr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y controlada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520440"/>
            <a:ext cx="35204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3520440"/>
            <a:ext cx="82296" cy="1645920"/>
          </a:xfrm>
          <a:prstGeom prst="rect">
            <a:avLst/>
          </a:prstGeom>
          <a:solidFill>
            <a:srgbClr val="E18231"/>
          </a:solidFill>
          <a:ln>
            <a:solidFill>
              <a:srgbClr val="E1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1" y="3593592"/>
            <a:ext cx="32461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1305B"/>
                </a:solidFill>
                <a:latin typeface="Aptos"/>
              </a:defRPr>
            </a:pPr>
            <a:r>
              <a:t>SEÑALES DE ALERTA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" y="3959352"/>
            <a:ext cx="3246120" cy="11430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• Macros desconocidas / CICS atípico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• Rechazo o modificación senior &gt;25%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• Tokens por módulo &gt;10% del margen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520440"/>
            <a:ext cx="35204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43400" y="3520440"/>
            <a:ext cx="82296" cy="1645920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07992" y="3593592"/>
            <a:ext cx="32461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1305B"/>
                </a:solidFill>
                <a:latin typeface="Aptos"/>
              </a:defRPr>
            </a:pPr>
            <a:r>
              <a:t>DIAGNÓSTICO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3959352"/>
            <a:ext cx="3246120" cy="11430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• Dialecto no soportado por AST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• Cambio de proveedor que afecta JSON/OpenAPI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520440"/>
            <a:ext cx="35204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46720" y="3520440"/>
            <a:ext cx="82296" cy="1645920"/>
          </a:xfrm>
          <a:prstGeom prst="rect">
            <a:avLst/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11312" y="3593592"/>
            <a:ext cx="324612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1305B"/>
                </a:solidFill>
                <a:latin typeface="Aptos"/>
              </a:defRPr>
            </a:pPr>
            <a:r>
              <a:t>RESPUESTA SEGURA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3959352"/>
            <a:ext cx="3246120" cy="11430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• Aislar bloque: “Análisis Manual Requerido”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• Añadir correcciones validadas al vector 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2 · INDUSTRIALIZACIÓN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Deuda técnica y sostenibilidad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Evitar costes ocultos acumulativos (Sculley et al., 2015)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257477" cy="61722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837943"/>
            <a:ext cx="2184325" cy="5989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Tipo de deuda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88997" y="1828800"/>
            <a:ext cx="4318652" cy="61722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25573" y="1837943"/>
            <a:ext cx="4245500" cy="5989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Riesgo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07649" y="1828800"/>
            <a:ext cx="4122350" cy="61722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44225" y="1837943"/>
            <a:ext cx="4049198" cy="5989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Mitigación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46020"/>
            <a:ext cx="2257477" cy="6172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2455163"/>
            <a:ext cx="2184325" cy="5989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263342"/>
                </a:solidFill>
                <a:latin typeface="Aptos"/>
              </a:defRPr>
            </a:pPr>
            <a:r>
              <a:t>Deuda de datos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88997" y="2446020"/>
            <a:ext cx="4318652" cy="6172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25573" y="2455163"/>
            <a:ext cx="4245500" cy="5989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63342"/>
                </a:solidFill>
                <a:latin typeface="Aptos"/>
              </a:defRPr>
            </a:pPr>
            <a:r>
              <a:t>Formato legacy con saltos de columna COBOL área A/B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07649" y="2446020"/>
            <a:ext cx="4122350" cy="6172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44225" y="2455163"/>
            <a:ext cx="4049198" cy="5989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63342"/>
                </a:solidFill>
                <a:latin typeface="Aptos"/>
              </a:defRPr>
            </a:pPr>
            <a:r>
              <a:t>Normalizador estricto antes de inyectar contexto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063240"/>
            <a:ext cx="2257477" cy="61722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3072384"/>
            <a:ext cx="2184325" cy="5989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263342"/>
                </a:solidFill>
                <a:latin typeface="Aptos"/>
              </a:defRPr>
            </a:pPr>
            <a:r>
              <a:t>Glue code / junglas de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88997" y="3063240"/>
            <a:ext cx="4318652" cy="61722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25573" y="3072384"/>
            <a:ext cx="4245500" cy="5989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63342"/>
                </a:solidFill>
                <a:latin typeface="Aptos"/>
              </a:defRPr>
            </a:pPr>
            <a:r>
              <a:t>Scripts dispersos en notebooks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649" y="3063240"/>
            <a:ext cx="4122350" cy="61722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44225" y="3072384"/>
            <a:ext cx="4049198" cy="5989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63342"/>
                </a:solidFill>
                <a:latin typeface="Aptos"/>
              </a:defRPr>
            </a:pPr>
            <a:r>
              <a:t>Librería unificada de ingeniería inversa: rev-eng-core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680460"/>
            <a:ext cx="2257477" cy="6172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3689604"/>
            <a:ext cx="2184325" cy="5989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263342"/>
                </a:solidFill>
                <a:latin typeface="Aptos"/>
              </a:defRPr>
            </a:pPr>
            <a:r>
              <a:t>Deuda de configuración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88997" y="3680460"/>
            <a:ext cx="4318652" cy="6172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25573" y="3689604"/>
            <a:ext cx="4245500" cy="5989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63342"/>
                </a:solidFill>
                <a:latin typeface="Aptos"/>
              </a:defRPr>
            </a:pPr>
            <a:r>
              <a:t>Temperatura, top_p y versiones de prompts sin control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07649" y="3680460"/>
            <a:ext cx="4122350" cy="6172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44225" y="3689604"/>
            <a:ext cx="4049198" cy="5989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63342"/>
                </a:solidFill>
                <a:latin typeface="Aptos"/>
              </a:defRPr>
            </a:pPr>
            <a:r>
              <a:t>Versionado formal en Git / MLflow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800600"/>
            <a:ext cx="10607040" cy="77724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919472"/>
            <a:ext cx="1033272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600" b="1" i="0">
                <a:solidFill>
                  <a:srgbClr val="11305B"/>
                </a:solidFill>
                <a:latin typeface="Aptos"/>
              </a:defRPr>
            </a:pPr>
            <a:r>
              <a:t>Sostenibilidad = componentes reutilizables + configuración versionada + cambios reversibles.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3 · REALIZACIÓN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De valor esperado a valor realizado: resultados del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Resultados tras 8 semanas y una inversión de US$ 20K en 3 módulos certificados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291840" cy="205740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3108960" cy="7315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3200" b="1" i="0">
                <a:solidFill>
                  <a:srgbClr val="007777"/>
                </a:solidFill>
                <a:latin typeface="Aptos"/>
              </a:defRPr>
            </a:pPr>
            <a:r>
              <a:t>91,2%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31089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11305B"/>
                </a:solidFill>
                <a:latin typeface="Aptos"/>
              </a:defRPr>
            </a:pPr>
            <a:r>
              <a:t>Recall / cobertura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301752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Supera target de 90%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828800"/>
            <a:ext cx="3291840" cy="205740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2057400"/>
            <a:ext cx="3108960" cy="7315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3200" b="1" i="0">
                <a:solidFill>
                  <a:srgbClr val="26895C"/>
                </a:solidFill>
                <a:latin typeface="Aptos"/>
              </a:defRPr>
            </a:pPr>
            <a:r>
              <a:t>86,5%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834640"/>
            <a:ext cx="31089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11305B"/>
                </a:solidFill>
                <a:latin typeface="Aptos"/>
              </a:defRPr>
            </a:pPr>
            <a:r>
              <a:t>Precisión semántica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46120"/>
            <a:ext cx="301752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Supera target de 85%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828800"/>
            <a:ext cx="3291840" cy="205740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2057400"/>
            <a:ext cx="3108960" cy="7315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3200" b="1" i="0">
                <a:solidFill>
                  <a:srgbClr val="E18231"/>
                </a:solidFill>
                <a:latin typeface="Aptos"/>
              </a:defRPr>
            </a:pPr>
            <a:r>
              <a:t>52%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834640"/>
            <a:ext cx="31089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11305B"/>
                </a:solidFill>
                <a:latin typeface="Aptos"/>
              </a:defRPr>
            </a:pPr>
            <a:r>
              <a:t>Ahorro de tiempo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46120"/>
            <a:ext cx="301752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Supera umbral crítico de 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80560"/>
            <a:ext cx="10515600" cy="6858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700" b="1" i="0">
                <a:solidFill>
                  <a:srgbClr val="11305B"/>
                </a:solidFill>
                <a:latin typeface="Aptos"/>
              </a:defRPr>
            </a:pPr>
            <a:r>
              <a:t>Las hipótesis críticas de cobertura semántica y reducción del ciclo quedan respaldadas por evidencia observable.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03520"/>
            <a:ext cx="1042416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E6F7E"/>
                </a:solidFill>
                <a:latin typeface="Aptos"/>
              </a:defRPr>
            </a:pPr>
            <a:r>
              <a:t>Los resultados de laboratorio deben consolidarse en operación real con monitorización y supervisión humana.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3 · REALIZACIÓN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Prevención de fuga de valor (Value Leakage)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Riesgos que pueden erosionar ahorro, adopción y margen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2967643" cy="81153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792224"/>
            <a:ext cx="2894491" cy="79324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Fuente de fuga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26011" y="1783080"/>
            <a:ext cx="2967643" cy="81153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62587" y="1792224"/>
            <a:ext cx="2894491" cy="79324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Impacto potencial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3655" y="1783080"/>
            <a:ext cx="4946072" cy="81153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30231" y="1792224"/>
            <a:ext cx="4872920" cy="79324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Acción de contención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94610"/>
            <a:ext cx="2967643" cy="81153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" y="2603753"/>
            <a:ext cx="2894491" cy="79324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Doble verificación paranoica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6011" y="2594610"/>
            <a:ext cx="2967643" cy="81153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62587" y="2603753"/>
            <a:ext cx="2894491" cy="79324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Pérdida del 35% del ahorro estimado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93655" y="2594610"/>
            <a:ext cx="4946072" cy="81153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30231" y="2603753"/>
            <a:ext cx="4872920" cy="79324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Enlaces directos a líneas de código; revisar solo banderas de duda.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406139"/>
            <a:ext cx="2967643" cy="81153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" y="3415283"/>
            <a:ext cx="2894491" cy="79324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Brecha de adopción operativa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26011" y="3406139"/>
            <a:ext cx="2967643" cy="81153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62587" y="3415283"/>
            <a:ext cx="2894491" cy="79324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ROI podría caer de 192% a &lt;40%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93655" y="3406139"/>
            <a:ext cx="4946072" cy="81153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30231" y="3415283"/>
            <a:ext cx="4872920" cy="79324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Integrar IA en CLI y Jira; no cotizar &gt;4 semanas de análisis por módulo.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217670"/>
            <a:ext cx="2967643" cy="81153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" y="4226814"/>
            <a:ext cx="2894491" cy="79324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Inflación de costes de inferencia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26011" y="4217670"/>
            <a:ext cx="2967643" cy="81153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62587" y="4226814"/>
            <a:ext cx="2894491" cy="79324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Hasta US$ 15K/año en consumo cloud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3655" y="4217670"/>
            <a:ext cx="4946072" cy="81153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30231" y="4226814"/>
            <a:ext cx="4872920" cy="79324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Cache semántico y modelos ligeros para tareas sintácticas/AST.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394960"/>
            <a:ext cx="10607040" cy="54864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468112"/>
            <a:ext cx="1033272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1305B"/>
                </a:solidFill>
                <a:latin typeface="Aptos"/>
              </a:defRPr>
            </a:pPr>
            <a:r>
              <a:t>La adopción y el diseño del flujo de trabajo son tan importantes como la precisión del modelo.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3 · REALIZACIÓN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Benefits Realization Plan: de capacidad IA a resultado P&amp;L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560320" cy="150876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377440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007777"/>
                </a:solidFill>
                <a:latin typeface="Aptos"/>
              </a:defRPr>
            </a:pPr>
            <a:r>
              <a:t>CAPACIDAD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2377440" cy="7315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263342"/>
                </a:solidFill>
                <a:latin typeface="Aptos"/>
              </a:defRPr>
            </a:pPr>
            <a:r>
              <a:t>Extracción semántica</a:t>
            </a:r>
          </a:p>
          <a:p>
            <a:pPr algn="ctr">
              <a:spcAft>
                <a:spcPts val="300"/>
              </a:spcAft>
              <a:defRPr sz="1400" b="1" i="0">
                <a:solidFill>
                  <a:srgbClr val="263342"/>
                </a:solidFill>
                <a:latin typeface="Aptos"/>
              </a:defRPr>
            </a:pPr>
            <a:r>
              <a:t>y trazabilidad a código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331720"/>
            <a:ext cx="3657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2000" b="1" i="0">
                <a:solidFill>
                  <a:srgbClr val="0077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828800"/>
            <a:ext cx="2560320" cy="150876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38728" y="1965960"/>
            <a:ext cx="2377440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11305B"/>
                </a:solidFill>
                <a:latin typeface="Aptos"/>
              </a:defRPr>
            </a:pPr>
            <a:r>
              <a:t>KPI OPERATIVO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359152"/>
            <a:ext cx="2377440" cy="7315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263342"/>
                </a:solidFill>
                <a:latin typeface="Aptos"/>
              </a:defRPr>
            </a:pPr>
            <a:r>
              <a:t>Análisis de 8 a 3 semanas</a:t>
            </a:r>
          </a:p>
          <a:p>
            <a:pPr algn="ctr">
              <a:spcAft>
                <a:spcPts val="300"/>
              </a:spcAft>
              <a:defRPr sz="1400" b="1" i="0">
                <a:solidFill>
                  <a:srgbClr val="263342"/>
                </a:solidFill>
                <a:latin typeface="Aptos"/>
              </a:defRPr>
            </a:pPr>
            <a:r>
              <a:t>(−62,5% por módulo)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331720"/>
            <a:ext cx="3657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2000" b="1" i="0">
                <a:solidFill>
                  <a:srgbClr val="0077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656" y="1828800"/>
            <a:ext cx="2560320" cy="150876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6" y="1965960"/>
            <a:ext cx="2377440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007777"/>
                </a:solidFill>
                <a:latin typeface="Aptos"/>
              </a:defRPr>
            </a:pPr>
            <a:r>
              <a:t>IMPACTO EN PROYECTO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359152"/>
            <a:ext cx="2377440" cy="7315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263342"/>
                </a:solidFill>
                <a:latin typeface="Aptos"/>
              </a:defRPr>
            </a:pPr>
            <a:r>
              <a:t>320 horas liberadas</a:t>
            </a:r>
          </a:p>
          <a:p>
            <a:pPr algn="ctr">
              <a:spcAft>
                <a:spcPts val="300"/>
              </a:spcAft>
              <a:defRPr sz="1400" b="1" i="0">
                <a:solidFill>
                  <a:srgbClr val="263342"/>
                </a:solidFill>
                <a:latin typeface="Aptos"/>
              </a:defRPr>
            </a:pPr>
            <a:r>
              <a:t>por módulo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2331720"/>
            <a:ext cx="36576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2000" b="1" i="0">
                <a:solidFill>
                  <a:srgbClr val="0077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6024" y="1828800"/>
            <a:ext cx="2560320" cy="150876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27464" y="1965960"/>
            <a:ext cx="2377440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26895C"/>
                </a:solidFill>
                <a:latin typeface="Aptos"/>
              </a:defRPr>
            </a:pPr>
            <a:r>
              <a:t>RESULTADO P&amp;L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4" y="2359152"/>
            <a:ext cx="2377440" cy="7315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263342"/>
                </a:solidFill>
                <a:latin typeface="Aptos"/>
              </a:defRPr>
            </a:pPr>
            <a:r>
              <a:t>US$ 248.000 de ahorro</a:t>
            </a:r>
          </a:p>
          <a:p>
            <a:pPr algn="ctr">
              <a:spcAft>
                <a:spcPts val="300"/>
              </a:spcAft>
              <a:defRPr sz="1400" b="1" i="0">
                <a:solidFill>
                  <a:srgbClr val="263342"/>
                </a:solidFill>
                <a:latin typeface="Aptos"/>
              </a:defRPr>
            </a:pPr>
            <a:r>
              <a:t>anual en margen bruto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8620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886200"/>
            <a:ext cx="82296" cy="1234440"/>
          </a:xfrm>
          <a:prstGeom prst="rect">
            <a:avLst/>
          </a:prstGeom>
          <a:solidFill>
            <a:srgbClr val="E18231"/>
          </a:solidFill>
          <a:ln>
            <a:solidFill>
              <a:srgbClr val="E1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959352"/>
            <a:ext cx="493776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1305B"/>
                </a:solidFill>
                <a:latin typeface="Aptos"/>
              </a:defRPr>
            </a:pPr>
            <a:r>
              <a:t>EFECTO EN CALIDAD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25112"/>
            <a:ext cx="4937760" cy="7315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63342"/>
                </a:solidFill>
                <a:latin typeface="Aptos"/>
              </a:defRPr>
            </a:pPr>
            <a:r>
              <a:t>Defectos UAT por omisión: 45% → 12% en piloto (target final &lt;5%).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8620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886200"/>
            <a:ext cx="82296" cy="1234440"/>
          </a:xfrm>
          <a:prstGeom prst="rect">
            <a:avLst/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3959352"/>
            <a:ext cx="493776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1305B"/>
                </a:solidFill>
                <a:latin typeface="Aptos"/>
              </a:defRPr>
            </a:pPr>
            <a:r>
              <a:t>EFECTO EN CAPACIDAD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325112"/>
            <a:ext cx="4694555" cy="586314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63342"/>
                </a:solidFill>
                <a:latin typeface="Aptos"/>
              </a:defRPr>
            </a:pPr>
            <a:r>
              <a:rPr dirty="0" err="1"/>
              <a:t>Eliminación</a:t>
            </a:r>
            <a:r>
              <a:rPr dirty="0"/>
              <a:t> de </a:t>
            </a:r>
            <a:r>
              <a:rPr dirty="0" err="1"/>
              <a:t>semanas</a:t>
            </a:r>
            <a:r>
              <a:rPr dirty="0"/>
              <a:t> de </a:t>
            </a:r>
            <a:r>
              <a:rPr dirty="0" err="1"/>
              <a:t>retrabajo</a:t>
            </a:r>
            <a:r>
              <a:rPr dirty="0"/>
              <a:t>; </a:t>
            </a:r>
            <a:r>
              <a:rPr dirty="0" err="1"/>
              <a:t>capacidad</a:t>
            </a:r>
            <a:r>
              <a:rPr dirty="0"/>
              <a:t> de </a:t>
            </a:r>
            <a:r>
              <a:rPr dirty="0" err="1"/>
              <a:t>absorción</a:t>
            </a:r>
            <a:r>
              <a:rPr dirty="0"/>
              <a:t>: </a:t>
            </a:r>
            <a:endParaRPr lang="es-419" dirty="0"/>
          </a:p>
          <a:p>
            <a:pPr algn="l">
              <a:spcAft>
                <a:spcPts val="300"/>
              </a:spcAft>
              <a:defRPr sz="1300" b="0" i="0">
                <a:solidFill>
                  <a:srgbClr val="263342"/>
                </a:solidFill>
                <a:latin typeface="Aptos"/>
              </a:defRPr>
            </a:pPr>
            <a:r>
              <a:rPr dirty="0"/>
              <a:t>+40% </a:t>
            </a:r>
            <a:r>
              <a:rPr dirty="0" err="1"/>
              <a:t>proyectos</a:t>
            </a:r>
            <a:r>
              <a:rPr dirty="0"/>
              <a:t> </a:t>
            </a:r>
            <a:r>
              <a:rPr dirty="0" err="1"/>
              <a:t>ganados</a:t>
            </a:r>
            <a:r>
              <a:rPr dirty="0"/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E6F7E"/>
                </a:solidFill>
                <a:latin typeface="Aptos"/>
              </a:defRPr>
            </a:pPr>
            <a:r>
              <a:t>Atribución causal: comparación con baseline histórico de 8 semanas y US$ 3.875 por semana de squad.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4 · CAMBIO ORGANIZATIVO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Adopción y gestión del cambio: modelo ADKAR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El objetivo es que la IA quite tareas tediosas y amplifique el criterio experto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64208"/>
            <a:ext cx="2137558" cy="64770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" y="1673352"/>
            <a:ext cx="2064406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Fase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31918" y="1664208"/>
            <a:ext cx="6080166" cy="64770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68494" y="1673352"/>
            <a:ext cx="6007014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Palanca operativa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12084" y="1664208"/>
            <a:ext cx="2755075" cy="64770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48660" y="1673352"/>
            <a:ext cx="2681923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Métrica de adopción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311908"/>
            <a:ext cx="2137558" cy="64770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" y="2321052"/>
            <a:ext cx="2064406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A · Awareness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31918" y="2311908"/>
            <a:ext cx="6080166" cy="64770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68494" y="2321052"/>
            <a:ext cx="6007014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Mostrar que el 45% de bugs UAT nace del análisis manual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12084" y="2311908"/>
            <a:ext cx="2755075" cy="64770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48660" y="2321052"/>
            <a:ext cx="2681923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100% Tech Leads en sesiones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959608"/>
            <a:ext cx="2137558" cy="64770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" y="2968752"/>
            <a:ext cx="2064406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D · Desire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31918" y="2959608"/>
            <a:ext cx="6080166" cy="64770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68494" y="2968752"/>
            <a:ext cx="6007014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IA como asistente, no rival; foco en diseño DDD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12084" y="2959608"/>
            <a:ext cx="2755075" cy="64770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48660" y="2968752"/>
            <a:ext cx="2681923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NPS interno ≥ +40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607308"/>
            <a:ext cx="2137558" cy="64770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" y="3616452"/>
            <a:ext cx="2064406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K · Knowledge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31918" y="3607308"/>
            <a:ext cx="6080166" cy="64770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68494" y="3616452"/>
            <a:ext cx="6007014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Formación en validación crítica, alucinaciones y prompts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12084" y="3607308"/>
            <a:ext cx="2755075" cy="64770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48660" y="3616452"/>
            <a:ext cx="2681923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100% arquitectos certificados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255008"/>
            <a:ext cx="2137558" cy="64770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" y="4264152"/>
            <a:ext cx="2064406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A · 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31918" y="4255008"/>
            <a:ext cx="6080166" cy="64770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68494" y="4264152"/>
            <a:ext cx="6007014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Coaching en el primer módulo productivo real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12084" y="4255008"/>
            <a:ext cx="2755075" cy="64770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48660" y="4264152"/>
            <a:ext cx="2681923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Primer ciclo ≤ 4 semanas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902708"/>
            <a:ext cx="2137558" cy="64770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" y="4911852"/>
            <a:ext cx="2064406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R · Reinforcement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31918" y="4902708"/>
            <a:ext cx="6080166" cy="64770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68494" y="4911852"/>
            <a:ext cx="6007014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Checklist IA en Definition of Ready mandatorio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12084" y="4902708"/>
            <a:ext cx="2755075" cy="64770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48660" y="4911852"/>
            <a:ext cx="2681923" cy="62941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≥80% portfolio analizado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42432"/>
            <a:ext cx="1069848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Barreras a gestionar: miedo a la irrelevancia del experto y sesgo de automatización (confianza ciega o rechazo visceral).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4 · CAMBIO ORGANIZATIVO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El punto de decisión real del arquitecto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La adopción ocurre al revisar y firmar la especificación, no al generar el reporte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166360" cy="2331720"/>
          </a:xfrm>
          <a:prstGeom prst="roundRect">
            <a:avLst>
              <a:gd name="adj" fmla="val 8000"/>
            </a:avLst>
          </a:prstGeom>
          <a:solidFill>
            <a:srgbClr val="EFF4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82296" cy="2331720"/>
          </a:xfrm>
          <a:prstGeom prst="rect">
            <a:avLst/>
          </a:prstGeom>
          <a:solidFill>
            <a:srgbClr val="B83F3F"/>
          </a:solidFill>
          <a:ln>
            <a:solidFill>
              <a:srgbClr val="B8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810512"/>
            <a:ext cx="489204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1305B"/>
                </a:solidFill>
                <a:latin typeface="Aptos"/>
              </a:defRPr>
            </a:pPr>
            <a:r>
              <a:t>RECHAZO / DESCONFIANZA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176272"/>
            <a:ext cx="4892040" cy="182879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t>• Relee código manualmente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t>• Vuelve a revisar hasta 50.000 líneas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t>• Consume 6–8 semanas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t>• Retrabajo y coste alto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166360" cy="233172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737360"/>
            <a:ext cx="82296" cy="2331720"/>
          </a:xfrm>
          <a:prstGeom prst="rect">
            <a:avLst/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1" y="1810512"/>
            <a:ext cx="489204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1305B"/>
                </a:solidFill>
                <a:latin typeface="Aptos"/>
              </a:defRPr>
            </a:pPr>
            <a:r>
              <a:t>ADOPCIÓN EFECTIVA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176272"/>
            <a:ext cx="4892040" cy="182879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t>• Confía en linaje y enlaces a fuente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t>• Revisa banderas de baja confianza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t>• Ajusta y firma en 3 semanas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263342"/>
                </a:solidFill>
                <a:latin typeface="Aptos"/>
              </a:defRPr>
            </a:pPr>
            <a:r>
              <a:t>• Genera el valor prometido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10607040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7777"/>
                </a:solidFill>
                <a:latin typeface="Aptos"/>
              </a:defRPr>
            </a:pPr>
            <a:r>
              <a:t>PALANCAS FACILITADORAS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9204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892040"/>
            <a:ext cx="82296" cy="914400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4965192"/>
            <a:ext cx="320040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1305B"/>
                </a:solidFill>
                <a:latin typeface="Aptos"/>
              </a:defRPr>
            </a:pPr>
            <a:r>
              <a:t>Ver código fuente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330952"/>
            <a:ext cx="3200400" cy="41147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Resalta las 12 líneas que originan cada regla.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89204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4892040"/>
            <a:ext cx="82296" cy="914400"/>
          </a:xfrm>
          <a:prstGeom prst="rect">
            <a:avLst/>
          </a:prstGeom>
          <a:solidFill>
            <a:srgbClr val="E18231"/>
          </a:solidFill>
          <a:ln>
            <a:solidFill>
              <a:srgbClr val="E1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53712" y="4965192"/>
            <a:ext cx="320040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1305B"/>
                </a:solidFill>
                <a:latin typeface="Aptos"/>
              </a:defRPr>
            </a:pPr>
            <a:r>
              <a:t>Confianza semafórica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5330952"/>
            <a:ext cx="3200400" cy="41147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Verde: alta · Ámbar: ambigua · Rojo: manual.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89204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4892040"/>
            <a:ext cx="82296" cy="914400"/>
          </a:xfrm>
          <a:prstGeom prst="rect">
            <a:avLst/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11312" y="4965192"/>
            <a:ext cx="3200400" cy="34747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1305B"/>
                </a:solidFill>
                <a:latin typeface="Aptos"/>
              </a:defRPr>
            </a:pPr>
            <a:r>
              <a:t>Firma humana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5330952"/>
            <a:ext cx="3200400" cy="411479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El arquitecto conserva la responsabilidad final.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5 · GOBIERNO Y ESCALADO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Gobierno de IA: roles, controles y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Estructura inspirada en NIST AI RMF e ISO/IEC 42001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3914273" cy="54102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" y="1746504"/>
            <a:ext cx="3841121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Actividad / decisión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7193" y="1737360"/>
            <a:ext cx="2201778" cy="54102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769" y="1746504"/>
            <a:ext cx="2128626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AI Transformation Lead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8972" y="1737360"/>
            <a:ext cx="1859280" cy="54102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5548" y="1746504"/>
            <a:ext cx="1786127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Lead Architect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78252" y="1737360"/>
            <a:ext cx="1712494" cy="54102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14828" y="1746504"/>
            <a:ext cx="1639342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CISO / Legal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0747" y="1737360"/>
            <a:ext cx="1467852" cy="54102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27323" y="1746504"/>
            <a:ext cx="1394700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Squad Dev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278380"/>
            <a:ext cx="3914273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" y="2287524"/>
            <a:ext cx="3841121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263342"/>
                </a:solidFill>
                <a:latin typeface="Aptos"/>
              </a:defRPr>
            </a:pPr>
            <a:r>
              <a:t>Autorización de uso de código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7193" y="2278380"/>
            <a:ext cx="2201778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769" y="2287524"/>
            <a:ext cx="2128626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18972" y="2278380"/>
            <a:ext cx="1859280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55548" y="2287524"/>
            <a:ext cx="1786127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78252" y="2278380"/>
            <a:ext cx="1712494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14828" y="2287524"/>
            <a:ext cx="1639342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A/R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90747" y="2278380"/>
            <a:ext cx="1467852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27323" y="2287524"/>
            <a:ext cx="1394700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819399"/>
            <a:ext cx="3914273" cy="54102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9496" y="2828543"/>
            <a:ext cx="3841121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263342"/>
                </a:solidFill>
                <a:latin typeface="Aptos"/>
              </a:defRPr>
            </a:pPr>
            <a:r>
              <a:t>Aprobación de prompts/modelo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7193" y="2819399"/>
            <a:ext cx="2201778" cy="54102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53769" y="2828543"/>
            <a:ext cx="2128626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18972" y="2819399"/>
            <a:ext cx="1859280" cy="54102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55548" y="2828543"/>
            <a:ext cx="1786127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78252" y="2819399"/>
            <a:ext cx="1712494" cy="54102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14828" y="2828543"/>
            <a:ext cx="1639342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90747" y="2819399"/>
            <a:ext cx="1467852" cy="54102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27323" y="2828543"/>
            <a:ext cx="1394700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360420"/>
            <a:ext cx="3914273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9496" y="3369563"/>
            <a:ext cx="3841121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263342"/>
                </a:solidFill>
                <a:latin typeface="Aptos"/>
              </a:defRPr>
            </a:pPr>
            <a:r>
              <a:t>Firma de especificación funcional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17193" y="3360420"/>
            <a:ext cx="2201778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53769" y="3369563"/>
            <a:ext cx="2128626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18972" y="3360420"/>
            <a:ext cx="1859280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55548" y="3369563"/>
            <a:ext cx="1786127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A/R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78252" y="3360420"/>
            <a:ext cx="1712494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14828" y="3369563"/>
            <a:ext cx="1639342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90747" y="3360420"/>
            <a:ext cx="1467852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27323" y="3369563"/>
            <a:ext cx="1394700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901440"/>
            <a:ext cx="3914273" cy="54102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9496" y="3910583"/>
            <a:ext cx="3841121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263342"/>
                </a:solidFill>
                <a:latin typeface="Aptos"/>
              </a:defRPr>
            </a:pPr>
            <a:r>
              <a:t>Paso a producción (CI/CD)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17193" y="3901440"/>
            <a:ext cx="2201778" cy="54102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53769" y="3910583"/>
            <a:ext cx="2128626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18972" y="3901440"/>
            <a:ext cx="1859280" cy="54102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55548" y="3910583"/>
            <a:ext cx="1786127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78252" y="3901440"/>
            <a:ext cx="1712494" cy="54102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14828" y="3910583"/>
            <a:ext cx="1639342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90747" y="3901440"/>
            <a:ext cx="1467852" cy="54102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227323" y="3910583"/>
            <a:ext cx="1394700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442460"/>
            <a:ext cx="3914273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39496" y="4451604"/>
            <a:ext cx="3841121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263342"/>
                </a:solidFill>
                <a:latin typeface="Aptos"/>
              </a:defRPr>
            </a:pPr>
            <a:r>
              <a:t>Auditoría de fuga / tokens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17193" y="4442460"/>
            <a:ext cx="2201778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453769" y="4451604"/>
            <a:ext cx="2128626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18972" y="4442460"/>
            <a:ext cx="1859280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55548" y="4451604"/>
            <a:ext cx="1786127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78252" y="4442460"/>
            <a:ext cx="1712494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514828" y="4451604"/>
            <a:ext cx="1639342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190747" y="4442460"/>
            <a:ext cx="1467852" cy="54102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227323" y="4451604"/>
            <a:ext cx="1394700" cy="5227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63342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5303520"/>
            <a:ext cx="10698480" cy="73152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662325" y="5360734"/>
            <a:ext cx="8800294" cy="61709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1305B"/>
                </a:solidFill>
                <a:latin typeface="Aptos"/>
              </a:defRPr>
            </a:pPr>
            <a:r>
              <a:rPr dirty="0"/>
              <a:t>Accountability </a:t>
            </a:r>
            <a:r>
              <a:rPr dirty="0" err="1"/>
              <a:t>indeleble</a:t>
            </a:r>
            <a:r>
              <a:rPr dirty="0"/>
              <a:t>: la </a:t>
            </a:r>
            <a:r>
              <a:rPr dirty="0" err="1"/>
              <a:t>firma</a:t>
            </a:r>
            <a:r>
              <a:rPr dirty="0"/>
              <a:t> de la </a:t>
            </a:r>
            <a:r>
              <a:rPr dirty="0" err="1"/>
              <a:t>especificación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 y el </a:t>
            </a:r>
            <a:r>
              <a:rPr dirty="0" err="1"/>
              <a:t>contrato</a:t>
            </a:r>
            <a:r>
              <a:rPr dirty="0"/>
              <a:t> </a:t>
            </a:r>
            <a:r>
              <a:rPr dirty="0" err="1"/>
              <a:t>OpenAPI</a:t>
            </a:r>
            <a:r>
              <a:rPr dirty="0"/>
              <a:t> </a:t>
            </a:r>
            <a:r>
              <a:rPr dirty="0" err="1"/>
              <a:t>corresponde</a:t>
            </a:r>
            <a:r>
              <a:rPr dirty="0"/>
              <a:t> legal y </a:t>
            </a:r>
            <a:endParaRPr lang="es-419" dirty="0"/>
          </a:p>
          <a:p>
            <a:pPr algn="ctr">
              <a:spcAft>
                <a:spcPts val="300"/>
              </a:spcAft>
              <a:defRPr sz="1400" b="1" i="0">
                <a:solidFill>
                  <a:srgbClr val="11305B"/>
                </a:solidFill>
                <a:latin typeface="Aptos"/>
              </a:defRPr>
            </a:pPr>
            <a:r>
              <a:rPr dirty="0" err="1"/>
              <a:t>profesionalmente</a:t>
            </a:r>
            <a:r>
              <a:rPr dirty="0"/>
              <a:t> al Lead Architect </a:t>
            </a:r>
            <a:r>
              <a:rPr dirty="0" err="1"/>
              <a:t>humano</a:t>
            </a:r>
            <a:r>
              <a:rPr dirty="0"/>
              <a:t>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6126480"/>
            <a:ext cx="1051560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R = ejecuta · A = aprobador final · C = consultado · I = informado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5 · GOBIERNO Y ESCALADO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Scale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10972800" cy="329184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E6F7E"/>
                </a:solidFill>
                <a:latin typeface="Aptos"/>
              </a:defRPr>
            </a:pPr>
            <a:r>
              <a:t>Plantilla 3 adaptada: prerrequisitos previos a expandir a todo el portfolio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2423359" cy="54864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746504"/>
            <a:ext cx="2350207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Fase / criterio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1727" y="1737360"/>
            <a:ext cx="7317595" cy="54864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18303" y="1746504"/>
            <a:ext cx="7244443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Evidencia / documentación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99323" y="1737360"/>
            <a:ext cx="1140404" cy="548640"/>
          </a:xfrm>
          <a:prstGeom prst="rect">
            <a:avLst/>
          </a:prstGeom>
          <a:solidFill>
            <a:srgbClr val="11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35899" y="1746504"/>
            <a:ext cx="1067252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Estado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286000"/>
            <a:ext cx="2423359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" y="2295144"/>
            <a:ext cx="2350207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Madurez de datos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81727" y="2286000"/>
            <a:ext cx="73175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18303" y="2295144"/>
            <a:ext cx="7244443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Parser AST validado con 96,4% de sentencias COBOL/JCL en 3 entornos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99323" y="2286000"/>
            <a:ext cx="1140404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35899" y="2295144"/>
            <a:ext cx="1067252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LISTO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834639"/>
            <a:ext cx="2423359" cy="5486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" y="2843783"/>
            <a:ext cx="2350207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Gobierno legal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81727" y="2834639"/>
            <a:ext cx="7317595" cy="5486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8303" y="2843783"/>
            <a:ext cx="7244443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Zero-Data Retention y VPC aprobadas por Legal; R1 mitigado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99323" y="2834639"/>
            <a:ext cx="1140404" cy="5486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35899" y="2843783"/>
            <a:ext cx="1067252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LISTO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383279"/>
            <a:ext cx="2423359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" y="3392423"/>
            <a:ext cx="2350207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Automatización MLOps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81727" y="3383279"/>
            <a:ext cx="73175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8303" y="3392423"/>
            <a:ext cx="7244443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CI/CD operativo con testing semántico automatizado en staging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99323" y="3383279"/>
            <a:ext cx="1140404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35899" y="3392423"/>
            <a:ext cx="1067252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LISTO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931920"/>
            <a:ext cx="2423359" cy="5486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" y="3941063"/>
            <a:ext cx="2350207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Sostenibilidad económica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81727" y="3931920"/>
            <a:ext cx="7317595" cy="5486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18303" y="3941063"/>
            <a:ext cx="7244443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US$ 8,50 por 10K LOC; 5,2% del ahorro (guardrail 15%)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99323" y="3931920"/>
            <a:ext cx="1140404" cy="548640"/>
          </a:xfrm>
          <a:prstGeom prst="rect">
            <a:avLst/>
          </a:prstGeom>
          <a:solidFill>
            <a:srgbClr val="F6F8FA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35899" y="3941063"/>
            <a:ext cx="1067252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LISTO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480560"/>
            <a:ext cx="2423359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4944" y="4489704"/>
            <a:ext cx="2350207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63342"/>
                </a:solidFill>
                <a:latin typeface="Aptos"/>
              </a:defRPr>
            </a:pPr>
            <a:r>
              <a:t>Gestión del cambio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81727" y="4480560"/>
            <a:ext cx="73175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18303" y="4489704"/>
            <a:ext cx="7244443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2 squads piloto; ciclo −48%; NPS técnico +44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9323" y="4480560"/>
            <a:ext cx="1140404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435899" y="4489704"/>
            <a:ext cx="1067252" cy="53035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63342"/>
                </a:solidFill>
                <a:latin typeface="Aptos"/>
              </a:defRPr>
            </a:pPr>
            <a:r>
              <a:t>LISTO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5257800"/>
            <a:ext cx="146304" cy="109728"/>
          </a:xfrm>
          <a:prstGeom prst="roundRect">
            <a:avLst>
              <a:gd name="adj" fmla="val 8000"/>
            </a:avLst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14400" y="5422392"/>
            <a:ext cx="146304" cy="109728"/>
          </a:xfrm>
          <a:prstGeom prst="roundRect">
            <a:avLst>
              <a:gd name="adj" fmla="val 8000"/>
            </a:avLst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14400" y="5586984"/>
            <a:ext cx="146304" cy="109728"/>
          </a:xfrm>
          <a:prstGeom prst="roundRect">
            <a:avLst>
              <a:gd name="adj" fmla="val 8000"/>
            </a:avLst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14400" y="5751576"/>
            <a:ext cx="146304" cy="109728"/>
          </a:xfrm>
          <a:prstGeom prst="roundRect">
            <a:avLst>
              <a:gd name="adj" fmla="val 8000"/>
            </a:avLst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14400" y="5916168"/>
            <a:ext cx="146304" cy="109728"/>
          </a:xfrm>
          <a:prstGeom prst="roundRect">
            <a:avLst>
              <a:gd name="adj" fmla="val 8000"/>
            </a:avLst>
          </a:prstGeom>
          <a:solidFill>
            <a:srgbClr val="26895C"/>
          </a:solidFill>
          <a:ln>
            <a:solidFill>
              <a:srgbClr val="26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202436" y="5431535"/>
            <a:ext cx="978408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26895C"/>
                </a:solidFill>
                <a:latin typeface="Aptos"/>
              </a:defRPr>
            </a:pPr>
            <a:r>
              <a:rPr dirty="0"/>
              <a:t>5 de 5 </a:t>
            </a:r>
            <a:r>
              <a:rPr dirty="0" err="1"/>
              <a:t>prerrequisitos</a:t>
            </a:r>
            <a:r>
              <a:rPr dirty="0"/>
              <a:t> </a:t>
            </a:r>
            <a:r>
              <a:rPr dirty="0" err="1"/>
              <a:t>validados</a:t>
            </a:r>
            <a:r>
              <a:rPr dirty="0"/>
              <a:t> para el </a:t>
            </a:r>
            <a:r>
              <a:rPr dirty="0" err="1"/>
              <a:t>escalado</a:t>
            </a:r>
            <a:r>
              <a:rPr dirty="0"/>
              <a:t> </a:t>
            </a:r>
            <a:r>
              <a:rPr dirty="0" err="1"/>
              <a:t>corporativo</a:t>
            </a:r>
            <a:r>
              <a:rPr dirty="0"/>
              <a:t>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1968C"/>
          </a:solidFill>
          <a:ln>
            <a:solidFill>
              <a:srgbClr val="21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91E1D5"/>
                </a:solidFill>
                <a:latin typeface="Aptos"/>
              </a:defRPr>
            </a:pPr>
            <a:r>
              <a:t>DECISIÓN FINAL · GATE G4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789920" cy="7315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900" b="1" i="0">
                <a:solidFill>
                  <a:srgbClr val="FFFFFF"/>
                </a:solidFill>
                <a:latin typeface="Aptos"/>
              </a:defRPr>
            </a:pPr>
            <a:r>
              <a:t>ESCALAR A NIVEL CORPORATIVO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828800"/>
            <a:ext cx="10607040" cy="0"/>
          </a:xfrm>
          <a:prstGeom prst="line">
            <a:avLst/>
          </a:prstGeom>
          <a:ln w="25400">
            <a:solidFill>
              <a:srgbClr val="219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2148840"/>
            <a:ext cx="50292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91E1D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48840"/>
            <a:ext cx="274320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Evidencia empírica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148840"/>
            <a:ext cx="704088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DCE6EF"/>
                </a:solidFill>
                <a:latin typeface="Aptos"/>
              </a:defRPr>
            </a:pPr>
            <a:r>
              <a:t>Recall ≥90% y reducción neta del ciclo ≥40% superan umbrales.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50292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91E1D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274320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Caso de negocio validado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017520"/>
            <a:ext cx="704088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DCE6EF"/>
                </a:solidFill>
                <a:latin typeface="Aptos"/>
              </a:defRPr>
            </a:pPr>
            <a:r>
              <a:t>VAN US$ 200K · ROI 192% · Payback en mes 12.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50292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91E1D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86200"/>
            <a:ext cx="274320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Riesgo legal controlado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886200"/>
            <a:ext cx="704088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DCE6EF"/>
                </a:solidFill>
                <a:latin typeface="Aptos"/>
              </a:defRPr>
            </a:pPr>
            <a:r>
              <a:t>Entornos privados y Zero-Data Retention aprobados.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79"/>
            <a:ext cx="50292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91E1D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79"/>
            <a:ext cx="2743200" cy="36576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Sostenibilidad técnica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754879"/>
            <a:ext cx="704088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DCE6EF"/>
                </a:solidFill>
                <a:latin typeface="Aptos"/>
              </a:defRPr>
            </a:pPr>
            <a:r>
              <a:t>Arquitectura desacoplada permite pasar de 2 a 16 módulos anuales.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10607040" cy="4114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Escalar con supervisión humana, monitorización continua y disciplina MLOps.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777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07777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1305B"/>
                </a:solidFill>
                <a:latin typeface="Aptos"/>
              </a:defRPr>
            </a:pPr>
            <a:r>
              <a:t>Referencias y marco conceptual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0160">
            <a:solidFill>
              <a:srgbClr val="CC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6537960"/>
            <a:ext cx="411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r">
              <a:spcAft>
                <a:spcPts val="300"/>
              </a:spcAft>
              <a:defRPr sz="900" b="0" i="0">
                <a:solidFill>
                  <a:srgbClr val="5E6F7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2560320"/>
          </a:xfrm>
          <a:prstGeom prst="rect">
            <a:avLst/>
          </a:prstGeom>
          <a:noFill/>
        </p:spPr>
        <p:txBody>
          <a:bodyPr wrap="none" lIns="45720" tIns="27432" rIns="45720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Huyen (2022): diseño, operación y monitorización de sistemas de machine learning.</a:t>
            </a:r>
          </a:p>
          <a:p>
            <a:pPr>
              <a:spcAft>
                <a:spcPts val="10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Sculley et al. (2015): deuda técnica oculta en sistemas de machine learning.</a:t>
            </a:r>
          </a:p>
          <a:p>
            <a:pPr>
              <a:spcAft>
                <a:spcPts val="10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Breck et al. (2017): pruebas y preparación para producción en sistemas ML.</a:t>
            </a:r>
          </a:p>
          <a:p>
            <a:pPr>
              <a:spcAft>
                <a:spcPts val="10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Amershi et al. (2019): prácticas de ingeniería de software para sistemas de ML.</a:t>
            </a:r>
          </a:p>
          <a:p>
            <a:pPr>
              <a:spcAft>
                <a:spcPts val="10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NIST AI RMF e ISO/IEC 42001: marcos de gobierno y gestión de riesgos de 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83480"/>
            <a:ext cx="10515600" cy="731520"/>
          </a:xfrm>
          <a:prstGeom prst="roundRect">
            <a:avLst>
              <a:gd name="adj" fmla="val 8000"/>
            </a:avLst>
          </a:prstGeom>
          <a:solidFill>
            <a:srgbClr val="ECF6F5"/>
          </a:solidFill>
          <a:ln>
            <a:solidFill>
              <a:srgbClr val="00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6759" y="5029877"/>
            <a:ext cx="7688002" cy="64787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11305B"/>
                </a:solidFill>
                <a:latin typeface="Aptos"/>
              </a:defRPr>
            </a:pPr>
            <a:r>
              <a:rPr dirty="0" err="1"/>
              <a:t>Mensaje</a:t>
            </a:r>
            <a:r>
              <a:rPr dirty="0"/>
              <a:t> final: el </a:t>
            </a:r>
            <a:r>
              <a:rPr dirty="0" err="1"/>
              <a:t>impacto</a:t>
            </a:r>
            <a:r>
              <a:rPr dirty="0"/>
              <a:t> se </a:t>
            </a:r>
            <a:r>
              <a:rPr dirty="0" err="1"/>
              <a:t>realiza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la </a:t>
            </a: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se integra al </a:t>
            </a:r>
            <a:r>
              <a:rPr dirty="0" err="1"/>
              <a:t>proceso</a:t>
            </a:r>
            <a:r>
              <a:rPr dirty="0"/>
              <a:t>, </a:t>
            </a:r>
            <a:endParaRPr lang="es-419" dirty="0"/>
          </a:p>
          <a:p>
            <a:pPr algn="ctr">
              <a:spcAft>
                <a:spcPts val="300"/>
              </a:spcAft>
              <a:defRPr sz="1500" b="1" i="0">
                <a:solidFill>
                  <a:srgbClr val="11305B"/>
                </a:solidFill>
                <a:latin typeface="Aptos"/>
              </a:defRPr>
            </a:pPr>
            <a:r>
              <a:rPr dirty="0"/>
              <a:t>es </a:t>
            </a:r>
            <a:r>
              <a:rPr dirty="0" err="1"/>
              <a:t>adoptada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las personas y produce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auditables</a:t>
            </a:r>
            <a:r>
              <a:rPr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868680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5E6F7E"/>
                </a:solidFill>
                <a:latin typeface="Aptos"/>
              </a:defRPr>
            </a:pPr>
            <a:r>
              <a:t>ACTIVIDAD 2 · GESTIÓN DEL CICLO DE VIDA DE LA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2552</Words>
  <Application>Microsoft Macintosh PowerPoint</Application>
  <PresentationFormat>Panorámica</PresentationFormat>
  <Paragraphs>447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Dither Gary Zamora</cp:lastModifiedBy>
  <cp:revision>2</cp:revision>
  <dcterms:created xsi:type="dcterms:W3CDTF">2013-01-27T09:14:16Z</dcterms:created>
  <dcterms:modified xsi:type="dcterms:W3CDTF">2026-10-11T17:57:58Z</dcterms:modified>
  <cp:category/>
</cp:coreProperties>
</file>